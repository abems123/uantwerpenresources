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2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63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45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27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09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90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72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54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36" autoAdjust="0"/>
    <p:restoredTop sz="79380"/>
  </p:normalViewPr>
  <p:slideViewPr>
    <p:cSldViewPr snapToGrid="0" snapToObjects="1">
      <p:cViewPr varScale="1">
        <p:scale>
          <a:sx n="49" d="100"/>
          <a:sy n="49" d="100"/>
        </p:scale>
        <p:origin x="67" y="9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E4C96-B90C-FF48-8FA9-261C019C58F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D38F8-3DE6-6E4A-B603-50AB8CF83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9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2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63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45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27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09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90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72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54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D38F8-3DE6-6E4A-B603-50AB8CF830A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886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290C6-6279-C8C7-002C-977018FB9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9FC687-53BF-A37D-EB8A-A6C8FCA00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814FEE-64A3-53A3-D93A-DBBC2CCF1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B78D3-C313-3C6D-29BA-4E25D7C65E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D38F8-3DE6-6E4A-B603-50AB8CF830A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12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2612E-531E-52F7-34EA-BBB627382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E0C04C-9DC6-992F-5FC8-999BFEECD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15574C-5093-D766-0D85-65A3E9947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B4ECC-8FED-696D-8398-463490029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D38F8-3DE6-6E4A-B603-50AB8CF830A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031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4CD45-0F6A-78A3-B57E-30CF7F23A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75E5D7-4DA8-FCE7-47F7-2EB697CF8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FA5DC-9EAE-1319-4291-7ABE2509A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D52BC-E8B7-49DE-35DD-C82583E72B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D38F8-3DE6-6E4A-B603-50AB8CF830A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37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04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907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910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806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3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646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507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802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825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60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57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49839-8021-2D40-A7B8-F60B2869263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5EE33B8-D271-47BD-9756-2F4FE01E40C0}"/>
              </a:ext>
            </a:extLst>
          </p:cNvPr>
          <p:cNvGrpSpPr/>
          <p:nvPr userDrawn="1"/>
        </p:nvGrpSpPr>
        <p:grpSpPr>
          <a:xfrm>
            <a:off x="6199281" y="6162925"/>
            <a:ext cx="5992721" cy="695077"/>
            <a:chOff x="7815883" y="6291475"/>
            <a:chExt cx="4213632" cy="48872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F63913E-6D18-4D3B-8B65-1A76C18A25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7815883" y="6291475"/>
              <a:ext cx="2852117" cy="48872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3CA9295-C3B2-4C83-8428-D41A5BC118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/>
            <a:stretch>
              <a:fillRect/>
            </a:stretch>
          </p:blipFill>
          <p:spPr>
            <a:xfrm>
              <a:off x="10678085" y="6291475"/>
              <a:ext cx="1351430" cy="43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2415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4BF8F0-C004-A48B-9037-52F506337E14}"/>
              </a:ext>
            </a:extLst>
          </p:cNvPr>
          <p:cNvSpPr txBox="1"/>
          <p:nvPr/>
        </p:nvSpPr>
        <p:spPr>
          <a:xfrm>
            <a:off x="534838" y="552091"/>
            <a:ext cx="1110219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Determine Entities</a:t>
            </a:r>
          </a:p>
          <a:p>
            <a:pPr marL="742932" lvl="1" indent="-285750">
              <a:buFont typeface="Arial" panose="020B0604020202020204" pitchFamily="34" charset="0"/>
              <a:buChar char="•"/>
            </a:pPr>
            <a:r>
              <a:rPr lang="en-US" dirty="0"/>
              <a:t>Organizer</a:t>
            </a:r>
          </a:p>
          <a:p>
            <a:pPr marL="742932" lvl="1" indent="-285750">
              <a:buFont typeface="Arial" panose="020B0604020202020204" pitchFamily="34" charset="0"/>
              <a:buChar char="•"/>
            </a:pPr>
            <a:r>
              <a:rPr lang="en-US" dirty="0"/>
              <a:t>Account</a:t>
            </a:r>
          </a:p>
          <a:p>
            <a:pPr marL="742932" lvl="1" indent="-285750">
              <a:buFont typeface="Arial" panose="020B0604020202020204" pitchFamily="34" charset="0"/>
              <a:buChar char="•"/>
            </a:pPr>
            <a:r>
              <a:rPr lang="en-US" dirty="0"/>
              <a:t>Event</a:t>
            </a:r>
          </a:p>
          <a:p>
            <a:pPr marL="742932" lvl="1" indent="-285750">
              <a:buFont typeface="Arial" panose="020B0604020202020204" pitchFamily="34" charset="0"/>
              <a:buChar char="•"/>
            </a:pPr>
            <a:r>
              <a:rPr lang="en-US" dirty="0"/>
              <a:t>Ticket</a:t>
            </a:r>
          </a:p>
          <a:p>
            <a:pPr marL="742932" lvl="1" indent="-285750">
              <a:buFont typeface="Arial" panose="020B0604020202020204" pitchFamily="34" charset="0"/>
              <a:buChar char="•"/>
            </a:pPr>
            <a:r>
              <a:rPr lang="en-US" dirty="0"/>
              <a:t>Customer</a:t>
            </a:r>
          </a:p>
          <a:p>
            <a:pPr marL="742932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Determine primitive attributes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Determine attributes that define the identity of an entity</a:t>
            </a:r>
          </a:p>
          <a:p>
            <a:pPr marL="742932" lvl="1" indent="-285750">
              <a:buFont typeface="Arial" panose="020B0604020202020204" pitchFamily="34" charset="0"/>
              <a:buChar char="•"/>
            </a:pPr>
            <a:r>
              <a:rPr lang="en-US" b="1" dirty="0"/>
              <a:t>Organizer</a:t>
            </a:r>
          </a:p>
          <a:p>
            <a:pPr marL="742932" lvl="1" indent="-285750">
              <a:buFont typeface="Arial" panose="020B0604020202020204" pitchFamily="34" charset="0"/>
              <a:buChar char="•"/>
            </a:pPr>
            <a:r>
              <a:rPr lang="en-US" b="1" dirty="0"/>
              <a:t>Account</a:t>
            </a:r>
            <a:endParaRPr lang="en-US" dirty="0"/>
          </a:p>
          <a:p>
            <a:pPr marL="800082" lvl="1" indent="-342900">
              <a:buFont typeface="Arial" panose="020B0604020202020204" pitchFamily="34" charset="0"/>
              <a:buChar char="•"/>
            </a:pPr>
            <a:r>
              <a:rPr lang="en-US" b="1" dirty="0"/>
              <a:t>Event</a:t>
            </a:r>
          </a:p>
          <a:p>
            <a:pPr marL="1257263" lvl="2" indent="-342900">
              <a:buFont typeface="Arial" panose="020B0604020202020204" pitchFamily="34" charset="0"/>
              <a:buChar char="•"/>
            </a:pPr>
            <a:r>
              <a:rPr lang="en-US" dirty="0"/>
              <a:t>Major Category</a:t>
            </a:r>
          </a:p>
          <a:p>
            <a:pPr marL="1257263" lvl="2" indent="-342900">
              <a:buFont typeface="Arial" panose="020B0604020202020204" pitchFamily="34" charset="0"/>
              <a:buChar char="•"/>
            </a:pPr>
            <a:r>
              <a:rPr lang="en-US" dirty="0"/>
              <a:t>Minor Category</a:t>
            </a:r>
          </a:p>
          <a:p>
            <a:pPr marL="1257263" lvl="2" indent="-342900">
              <a:buFont typeface="Arial" panose="020B0604020202020204" pitchFamily="34" charset="0"/>
              <a:buChar char="•"/>
            </a:pPr>
            <a:r>
              <a:rPr lang="en-US" dirty="0"/>
              <a:t>Available tickets</a:t>
            </a:r>
          </a:p>
          <a:p>
            <a:pPr marL="1257263" lvl="2" indent="-342900">
              <a:buFont typeface="Arial" panose="020B0604020202020204" pitchFamily="34" charset="0"/>
              <a:buChar char="•"/>
            </a:pPr>
            <a:r>
              <a:rPr lang="en-US" u="sng" dirty="0"/>
              <a:t>Artist name</a:t>
            </a:r>
          </a:p>
          <a:p>
            <a:pPr marL="1257263" lvl="2" indent="-342900">
              <a:buFont typeface="Arial" panose="020B0604020202020204" pitchFamily="34" charset="0"/>
              <a:buChar char="•"/>
            </a:pPr>
            <a:r>
              <a:rPr lang="en-US" u="sng" dirty="0"/>
              <a:t>Date</a:t>
            </a:r>
          </a:p>
          <a:p>
            <a:pPr marL="1257263" lvl="2" indent="-342900">
              <a:buFont typeface="Arial" panose="020B0604020202020204" pitchFamily="34" charset="0"/>
              <a:buChar char="•"/>
            </a:pPr>
            <a:r>
              <a:rPr lang="en-US" u="sng" dirty="0"/>
              <a:t>Venue</a:t>
            </a:r>
          </a:p>
          <a:p>
            <a:pPr marL="800082" lvl="1" indent="-342900">
              <a:buFont typeface="Arial" panose="020B0604020202020204" pitchFamily="34" charset="0"/>
              <a:buChar char="•"/>
            </a:pPr>
            <a:r>
              <a:rPr lang="en-US" b="1" dirty="0"/>
              <a:t>Ticket</a:t>
            </a:r>
          </a:p>
          <a:p>
            <a:pPr marL="1257263" lvl="2" indent="-342900">
              <a:buFont typeface="Arial" panose="020B0604020202020204" pitchFamily="34" charset="0"/>
              <a:buChar char="•"/>
            </a:pPr>
            <a:r>
              <a:rPr lang="en-US" dirty="0"/>
              <a:t>Type</a:t>
            </a:r>
          </a:p>
          <a:p>
            <a:pPr marL="1257263" lvl="2" indent="-342900">
              <a:buFont typeface="Arial" panose="020B0604020202020204" pitchFamily="34" charset="0"/>
              <a:buChar char="•"/>
            </a:pPr>
            <a:r>
              <a:rPr lang="en-US" dirty="0"/>
              <a:t>Price</a:t>
            </a:r>
          </a:p>
        </p:txBody>
      </p:sp>
    </p:spTree>
    <p:extLst>
      <p:ext uri="{BB962C8B-B14F-4D97-AF65-F5344CB8AC3E}">
        <p14:creationId xmlns:p14="http://schemas.microsoft.com/office/powerpoint/2010/main" val="1197865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5BDCC-9F52-C371-FAA8-C53C9A72F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0991E1-DD7B-A254-CA01-7D1EB78568BA}"/>
              </a:ext>
            </a:extLst>
          </p:cNvPr>
          <p:cNvSpPr txBox="1"/>
          <p:nvPr/>
        </p:nvSpPr>
        <p:spPr>
          <a:xfrm>
            <a:off x="534838" y="552091"/>
            <a:ext cx="1110219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7263" lvl="2" indent="-342900">
              <a:buFont typeface="Arial" panose="020B0604020202020204" pitchFamily="34" charset="0"/>
              <a:buChar char="•"/>
            </a:pPr>
            <a:r>
              <a:rPr lang="en-US" dirty="0"/>
              <a:t>Promotion date</a:t>
            </a:r>
          </a:p>
          <a:p>
            <a:pPr marL="1257263" lvl="2" indent="-342900">
              <a:buFont typeface="Arial" panose="020B0604020202020204" pitchFamily="34" charset="0"/>
              <a:buChar char="•"/>
            </a:pPr>
            <a:r>
              <a:rPr lang="en-US" dirty="0"/>
              <a:t>Discount</a:t>
            </a:r>
          </a:p>
          <a:p>
            <a:pPr marL="1257263" lvl="2" indent="-342900">
              <a:buFont typeface="Arial" panose="020B0604020202020204" pitchFamily="34" charset="0"/>
              <a:buChar char="•"/>
            </a:pPr>
            <a:r>
              <a:rPr lang="en-US" dirty="0"/>
              <a:t>Seat number</a:t>
            </a:r>
          </a:p>
          <a:p>
            <a:pPr marL="1257263" lvl="2" indent="-342900">
              <a:buFont typeface="Arial" panose="020B0604020202020204" pitchFamily="34" charset="0"/>
              <a:buChar char="•"/>
            </a:pPr>
            <a:r>
              <a:rPr lang="en-US" u="sng" dirty="0"/>
              <a:t>Code</a:t>
            </a:r>
          </a:p>
          <a:p>
            <a:pPr marL="800082" lvl="1" indent="-342900">
              <a:buFont typeface="Arial" panose="020B0604020202020204" pitchFamily="34" charset="0"/>
              <a:buChar char="•"/>
            </a:pPr>
            <a:r>
              <a:rPr lang="en-US" b="1" dirty="0"/>
              <a:t>Customer</a:t>
            </a:r>
          </a:p>
          <a:p>
            <a:pPr marL="1257263" lvl="2" indent="-342900">
              <a:buFont typeface="Arial" panose="020B0604020202020204" pitchFamily="34" charset="0"/>
              <a:buChar char="•"/>
            </a:pPr>
            <a:r>
              <a:rPr lang="en-US" dirty="0"/>
              <a:t>First name</a:t>
            </a:r>
          </a:p>
          <a:p>
            <a:pPr marL="1257263" lvl="2" indent="-342900">
              <a:buFont typeface="Arial" panose="020B0604020202020204" pitchFamily="34" charset="0"/>
              <a:buChar char="•"/>
            </a:pPr>
            <a:r>
              <a:rPr lang="en-US" dirty="0"/>
              <a:t>Last name</a:t>
            </a:r>
          </a:p>
          <a:p>
            <a:pPr marL="1257263" lvl="2" indent="-342900">
              <a:buFont typeface="Arial" panose="020B0604020202020204" pitchFamily="34" charset="0"/>
              <a:buChar char="•"/>
            </a:pPr>
            <a:r>
              <a:rPr lang="en-US" dirty="0"/>
              <a:t>Birth date</a:t>
            </a:r>
          </a:p>
          <a:p>
            <a:pPr marL="1257263" lvl="2" indent="-342900">
              <a:buFont typeface="Arial" panose="020B0604020202020204" pitchFamily="34" charset="0"/>
              <a:buChar char="•"/>
            </a:pPr>
            <a:r>
              <a:rPr lang="en-US" u="sng" dirty="0"/>
              <a:t>Email address</a:t>
            </a:r>
          </a:p>
          <a:p>
            <a:pPr marL="1257263" lvl="2" indent="-342900">
              <a:buFont typeface="Arial" panose="020B0604020202020204" pitchFamily="34" charset="0"/>
              <a:buChar char="•"/>
            </a:pPr>
            <a:endParaRPr lang="en-US" u="sng" dirty="0"/>
          </a:p>
          <a:p>
            <a:pPr marL="342900" indent="-342900">
              <a:buFont typeface="+mj-lt"/>
              <a:buAutoNum type="arabicPeriod" startAt="4"/>
            </a:pPr>
            <a:r>
              <a:rPr lang="en-US" dirty="0"/>
              <a:t>Determine relations &amp; relation properties</a:t>
            </a:r>
          </a:p>
          <a:p>
            <a:pPr marL="800082" lvl="1" indent="-342900">
              <a:buFont typeface="Arial" panose="020B0604020202020204" pitchFamily="34" charset="0"/>
              <a:buChar char="•"/>
            </a:pPr>
            <a:r>
              <a:rPr lang="en-US" dirty="0"/>
              <a:t>Different organizers </a:t>
            </a:r>
            <a:r>
              <a:rPr lang="en-US" u="sng" dirty="0"/>
              <a:t>can create</a:t>
            </a:r>
            <a:r>
              <a:rPr lang="en-US" dirty="0"/>
              <a:t> events. (one/many) (one/zero)</a:t>
            </a:r>
          </a:p>
          <a:p>
            <a:pPr marL="800082" lvl="1" indent="-342900">
              <a:buFont typeface="Arial" panose="020B0604020202020204" pitchFamily="34" charset="0"/>
              <a:buChar char="•"/>
            </a:pPr>
            <a:r>
              <a:rPr lang="en-US" dirty="0"/>
              <a:t>An organizer </a:t>
            </a:r>
            <a:r>
              <a:rPr lang="en-US" u="sng" dirty="0"/>
              <a:t>logs on to</a:t>
            </a:r>
            <a:r>
              <a:rPr lang="en-US" dirty="0"/>
              <a:t> the system with their account. (one/one) (one/one)</a:t>
            </a:r>
          </a:p>
          <a:p>
            <a:pPr marL="800082" lvl="1" indent="-342900">
              <a:buFont typeface="Arial" panose="020B0604020202020204" pitchFamily="34" charset="0"/>
              <a:buChar char="•"/>
            </a:pPr>
            <a:r>
              <a:rPr lang="en-US" dirty="0"/>
              <a:t>An organizer, with their account, </a:t>
            </a:r>
            <a:r>
              <a:rPr lang="en-US" u="sng" dirty="0"/>
              <a:t>can create one or more</a:t>
            </a:r>
            <a:r>
              <a:rPr lang="en-US" dirty="0"/>
              <a:t> events. (one/many) (one/zero)</a:t>
            </a:r>
          </a:p>
          <a:p>
            <a:pPr marL="800082" lvl="1" indent="-342900">
              <a:buFont typeface="Arial" panose="020B0604020202020204" pitchFamily="34" charset="0"/>
              <a:buChar char="•"/>
            </a:pPr>
            <a:r>
              <a:rPr lang="en-US" dirty="0"/>
              <a:t>The organizer of event </a:t>
            </a:r>
            <a:r>
              <a:rPr lang="en-US" u="sng" dirty="0"/>
              <a:t>sets</a:t>
            </a:r>
            <a:r>
              <a:rPr lang="en-US" dirty="0"/>
              <a:t> the price of each type of ticket. (one/many) (one/zero)</a:t>
            </a:r>
          </a:p>
          <a:p>
            <a:pPr marL="800082" lvl="1" indent="-342900">
              <a:buFont typeface="Arial" panose="020B0604020202020204" pitchFamily="34" charset="0"/>
              <a:buChar char="•"/>
            </a:pPr>
            <a:r>
              <a:rPr lang="en-US" dirty="0"/>
              <a:t>Each customer </a:t>
            </a:r>
            <a:r>
              <a:rPr lang="en-US" u="sng" dirty="0"/>
              <a:t>can buy one or more</a:t>
            </a:r>
            <a:r>
              <a:rPr lang="en-US" dirty="0"/>
              <a:t> available tickets for an event. (many/many) (zero/zero)</a:t>
            </a:r>
          </a:p>
          <a:p>
            <a:pPr marL="800082" lvl="1" indent="-342900">
              <a:buFont typeface="Arial" panose="020B0604020202020204" pitchFamily="34" charset="0"/>
              <a:buChar char="•"/>
            </a:pPr>
            <a:r>
              <a:rPr lang="en-GB" dirty="0"/>
              <a:t>When a ticket is bought, the date of purchase and price </a:t>
            </a:r>
            <a:r>
              <a:rPr lang="en-GB" u="sng" dirty="0"/>
              <a:t>is registered by</a:t>
            </a:r>
            <a:r>
              <a:rPr lang="en-GB" dirty="0"/>
              <a:t> the system.</a:t>
            </a:r>
            <a:endParaRPr lang="en-US" dirty="0"/>
          </a:p>
          <a:p>
            <a:pPr marL="800082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080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22E33-BA2D-EC8A-D4BE-235468B9A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B033B51-D8AF-368A-8CEC-58B072A97579}"/>
              </a:ext>
            </a:extLst>
          </p:cNvPr>
          <p:cNvCxnSpPr>
            <a:cxnSpLocks/>
          </p:cNvCxnSpPr>
          <p:nvPr/>
        </p:nvCxnSpPr>
        <p:spPr>
          <a:xfrm flipH="1">
            <a:off x="0" y="3073625"/>
            <a:ext cx="1828800" cy="0"/>
          </a:xfrm>
          <a:prstGeom prst="straightConnector1">
            <a:avLst/>
          </a:prstGeom>
          <a:ln w="25400" cmpd="sng">
            <a:headEnd type="triangle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19052F0-4B97-5012-3D84-A310D5430E0F}"/>
              </a:ext>
            </a:extLst>
          </p:cNvPr>
          <p:cNvCxnSpPr>
            <a:cxnSpLocks/>
          </p:cNvCxnSpPr>
          <p:nvPr/>
        </p:nvCxnSpPr>
        <p:spPr>
          <a:xfrm>
            <a:off x="0" y="2489521"/>
            <a:ext cx="1828800" cy="0"/>
          </a:xfrm>
          <a:prstGeom prst="straightConnector1">
            <a:avLst/>
          </a:prstGeom>
          <a:ln w="76200" cap="sq" cmpd="dbl">
            <a:solidFill>
              <a:schemeClr val="dk1"/>
            </a:solidFill>
            <a:prstDash val="solid"/>
            <a:miter lim="800000"/>
            <a:headEnd type="none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20203A7-8535-B726-7587-33DCB31C7C9A}"/>
              </a:ext>
            </a:extLst>
          </p:cNvPr>
          <p:cNvCxnSpPr>
            <a:cxnSpLocks/>
          </p:cNvCxnSpPr>
          <p:nvPr/>
        </p:nvCxnSpPr>
        <p:spPr>
          <a:xfrm flipV="1">
            <a:off x="0" y="2781573"/>
            <a:ext cx="1828800" cy="0"/>
          </a:xfrm>
          <a:prstGeom prst="straightConnector1">
            <a:avLst/>
          </a:prstGeom>
          <a:ln w="25400" cmpd="sng">
            <a:prstDash val="sysDot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EC1260E-9C2F-AC36-736D-D34485DEA8CF}"/>
              </a:ext>
            </a:extLst>
          </p:cNvPr>
          <p:cNvCxnSpPr>
            <a:cxnSpLocks/>
          </p:cNvCxnSpPr>
          <p:nvPr/>
        </p:nvCxnSpPr>
        <p:spPr>
          <a:xfrm flipH="1" flipV="1">
            <a:off x="0" y="3657729"/>
            <a:ext cx="1828800" cy="0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Diamond 23">
            <a:extLst>
              <a:ext uri="{FF2B5EF4-FFF2-40B4-BE49-F238E27FC236}">
                <a16:creationId xmlns:a16="http://schemas.microsoft.com/office/drawing/2014/main" id="{37EE9EE1-FACA-D30B-8B87-E2211E9C7C37}"/>
              </a:ext>
            </a:extLst>
          </p:cNvPr>
          <p:cNvSpPr/>
          <p:nvPr/>
        </p:nvSpPr>
        <p:spPr>
          <a:xfrm>
            <a:off x="128487" y="6133955"/>
            <a:ext cx="1571827" cy="387798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Relation</a:t>
            </a:r>
            <a:endParaRPr lang="fr-BE" sz="1400" dirty="0">
              <a:solidFill>
                <a:schemeClr val="tx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358AF8F-C9E2-2198-DAC3-6542536940D5}"/>
              </a:ext>
            </a:extLst>
          </p:cNvPr>
          <p:cNvSpPr/>
          <p:nvPr/>
        </p:nvSpPr>
        <p:spPr>
          <a:xfrm>
            <a:off x="302785" y="5454102"/>
            <a:ext cx="1223231" cy="387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4" dirty="0">
                <a:solidFill>
                  <a:schemeClr val="tx1"/>
                </a:solidFill>
              </a:rPr>
              <a:t>Attribute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1D3F5E7-54B2-0181-E61D-B38DC4BB8221}"/>
              </a:ext>
            </a:extLst>
          </p:cNvPr>
          <p:cNvGrpSpPr/>
          <p:nvPr/>
        </p:nvGrpSpPr>
        <p:grpSpPr>
          <a:xfrm>
            <a:off x="101223" y="336247"/>
            <a:ext cx="1626355" cy="784585"/>
            <a:chOff x="948812" y="3540532"/>
            <a:chExt cx="2536723" cy="735547"/>
          </a:xfrm>
          <a:solidFill>
            <a:schemeClr val="bg1"/>
          </a:solidFill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54AAB9B-6AC0-1549-8511-E2157E758DB6}"/>
                </a:ext>
              </a:extLst>
            </p:cNvPr>
            <p:cNvSpPr txBox="1"/>
            <p:nvPr/>
          </p:nvSpPr>
          <p:spPr>
            <a:xfrm>
              <a:off x="948812" y="3540532"/>
              <a:ext cx="2536721" cy="2885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Entity</a:t>
              </a:r>
              <a:endParaRPr lang="fr-BE" sz="14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7657EFC-57FE-08F4-00C3-B7E8B509C87D}"/>
                </a:ext>
              </a:extLst>
            </p:cNvPr>
            <p:cNvSpPr txBox="1"/>
            <p:nvPr/>
          </p:nvSpPr>
          <p:spPr>
            <a:xfrm>
              <a:off x="948814" y="3785561"/>
              <a:ext cx="2536721" cy="49051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304782" indent="-304782">
                <a:buFontTx/>
                <a:buChar char="-"/>
              </a:pPr>
              <a:r>
                <a:rPr lang="en-US" sz="1400" u="sng" dirty="0"/>
                <a:t>Key Attribute</a:t>
              </a:r>
              <a:endParaRPr lang="en-US" sz="1400" u="dashLong" dirty="0"/>
            </a:p>
            <a:p>
              <a:pPr marL="304782" indent="-304782">
                <a:buFontTx/>
                <a:buChar char="-"/>
              </a:pPr>
              <a:r>
                <a:rPr lang="en-US" sz="1400" dirty="0"/>
                <a:t>Attribute</a:t>
              </a:r>
            </a:p>
          </p:txBody>
        </p:sp>
      </p:grpSp>
      <p:sp>
        <p:nvSpPr>
          <p:cNvPr id="29" name="Diamond 28">
            <a:extLst>
              <a:ext uri="{FF2B5EF4-FFF2-40B4-BE49-F238E27FC236}">
                <a16:creationId xmlns:a16="http://schemas.microsoft.com/office/drawing/2014/main" id="{4F3A204A-EC4A-9DE3-11C4-471443DD5246}"/>
              </a:ext>
            </a:extLst>
          </p:cNvPr>
          <p:cNvSpPr/>
          <p:nvPr/>
        </p:nvSpPr>
        <p:spPr>
          <a:xfrm>
            <a:off x="128487" y="4629632"/>
            <a:ext cx="1571827" cy="532418"/>
          </a:xfrm>
          <a:prstGeom prst="diamond">
            <a:avLst/>
          </a:prstGeom>
          <a:solidFill>
            <a:schemeClr val="bg1"/>
          </a:solidFill>
          <a:ln w="50800" cap="flat" cmpd="dbl">
            <a:solidFill>
              <a:schemeClr val="dk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Weak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Relation</a:t>
            </a:r>
            <a:endParaRPr lang="fr-BE" sz="1400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CFAACB2-6865-4F91-CE27-38E32A94661A}"/>
              </a:ext>
            </a:extLst>
          </p:cNvPr>
          <p:cNvCxnSpPr>
            <a:cxnSpLocks/>
          </p:cNvCxnSpPr>
          <p:nvPr/>
        </p:nvCxnSpPr>
        <p:spPr>
          <a:xfrm>
            <a:off x="0" y="3365677"/>
            <a:ext cx="1828800" cy="0"/>
          </a:xfrm>
          <a:prstGeom prst="straightConnector1">
            <a:avLst/>
          </a:prstGeom>
          <a:ln w="76200" cap="sq" cmpd="dbl">
            <a:solidFill>
              <a:schemeClr val="dk1"/>
            </a:solidFill>
            <a:prstDash val="solid"/>
            <a:miter lim="800000"/>
            <a:headEnd type="none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C8601DF7-0527-2EF4-BF7F-146C433A0CBD}"/>
              </a:ext>
            </a:extLst>
          </p:cNvPr>
          <p:cNvSpPr/>
          <p:nvPr/>
        </p:nvSpPr>
        <p:spPr>
          <a:xfrm>
            <a:off x="673102" y="3949781"/>
            <a:ext cx="482597" cy="387799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ISA</a:t>
            </a:r>
            <a:endParaRPr lang="fr-BE" sz="1400" dirty="0">
              <a:solidFill>
                <a:schemeClr val="tx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0BDDEC8-10F9-3169-844F-C0BF869A0306}"/>
              </a:ext>
            </a:extLst>
          </p:cNvPr>
          <p:cNvGrpSpPr/>
          <p:nvPr/>
        </p:nvGrpSpPr>
        <p:grpSpPr>
          <a:xfrm>
            <a:off x="101224" y="1412884"/>
            <a:ext cx="1626355" cy="784585"/>
            <a:chOff x="948812" y="3540532"/>
            <a:chExt cx="2536723" cy="735547"/>
          </a:xfrm>
          <a:solidFill>
            <a:schemeClr val="bg1"/>
          </a:solidFill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F8C0D22-D3ED-2A68-4993-E821F5EB1986}"/>
                </a:ext>
              </a:extLst>
            </p:cNvPr>
            <p:cNvSpPr txBox="1"/>
            <p:nvPr/>
          </p:nvSpPr>
          <p:spPr>
            <a:xfrm>
              <a:off x="948812" y="3540532"/>
              <a:ext cx="2536721" cy="288540"/>
            </a:xfrm>
            <a:prstGeom prst="rect">
              <a:avLst/>
            </a:prstGeom>
            <a:grpFill/>
            <a:ln w="50800" cmpd="dbl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Weak Entity</a:t>
              </a:r>
              <a:endParaRPr lang="fr-BE" sz="14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4845B83-E38B-9BF8-E5E9-1D78268110B9}"/>
                </a:ext>
              </a:extLst>
            </p:cNvPr>
            <p:cNvSpPr txBox="1"/>
            <p:nvPr/>
          </p:nvSpPr>
          <p:spPr>
            <a:xfrm>
              <a:off x="948814" y="3785561"/>
              <a:ext cx="2536721" cy="490518"/>
            </a:xfrm>
            <a:prstGeom prst="rect">
              <a:avLst/>
            </a:prstGeom>
            <a:grpFill/>
            <a:ln w="50800" cmpd="dbl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304782" indent="-304782">
                <a:buFontTx/>
                <a:buChar char="-"/>
              </a:pPr>
              <a:r>
                <a:rPr lang="en-US" sz="1400" u="dashLong" dirty="0"/>
                <a:t>Weak Attribute</a:t>
              </a:r>
            </a:p>
            <a:p>
              <a:pPr marL="304782" indent="-304782">
                <a:buFontTx/>
                <a:buChar char="-"/>
              </a:pPr>
              <a:r>
                <a:rPr lang="en-US" sz="1400" dirty="0"/>
                <a:t>Attribute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4059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75572-B367-FBD5-262F-FA80F9FDA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5B9C7DD-6B98-D326-69E7-0F5B6DC8CED4}"/>
              </a:ext>
            </a:extLst>
          </p:cNvPr>
          <p:cNvGrpSpPr/>
          <p:nvPr/>
        </p:nvGrpSpPr>
        <p:grpSpPr>
          <a:xfrm>
            <a:off x="996820" y="720933"/>
            <a:ext cx="1626355" cy="569141"/>
            <a:chOff x="948812" y="3540532"/>
            <a:chExt cx="2536723" cy="533569"/>
          </a:xfrm>
          <a:solidFill>
            <a:schemeClr val="bg1"/>
          </a:solidFill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61A1E3B-DF41-0C70-EFAE-584CDC5BE45A}"/>
                </a:ext>
              </a:extLst>
            </p:cNvPr>
            <p:cNvSpPr txBox="1"/>
            <p:nvPr/>
          </p:nvSpPr>
          <p:spPr>
            <a:xfrm>
              <a:off x="948812" y="3540532"/>
              <a:ext cx="2536721" cy="2885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Organizer</a:t>
              </a:r>
              <a:endParaRPr lang="fr-BE" sz="1400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5293878-914C-2DF4-E7B5-D879B9271A92}"/>
                </a:ext>
              </a:extLst>
            </p:cNvPr>
            <p:cNvSpPr txBox="1"/>
            <p:nvPr/>
          </p:nvSpPr>
          <p:spPr>
            <a:xfrm>
              <a:off x="948814" y="3785561"/>
              <a:ext cx="2536721" cy="2885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304782" indent="-304782">
                <a:buFontTx/>
                <a:buChar char="-"/>
              </a:pPr>
              <a:endParaRPr lang="en-US" sz="14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364F698-200D-DD3D-81D0-30DC337FE326}"/>
              </a:ext>
            </a:extLst>
          </p:cNvPr>
          <p:cNvGrpSpPr/>
          <p:nvPr/>
        </p:nvGrpSpPr>
        <p:grpSpPr>
          <a:xfrm>
            <a:off x="5821357" y="744138"/>
            <a:ext cx="1626355" cy="569142"/>
            <a:chOff x="948812" y="3540532"/>
            <a:chExt cx="2536723" cy="533569"/>
          </a:xfrm>
          <a:solidFill>
            <a:schemeClr val="bg1"/>
          </a:solidFill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4492B81-CF80-CF21-24A8-422C7259489D}"/>
                </a:ext>
              </a:extLst>
            </p:cNvPr>
            <p:cNvSpPr txBox="1"/>
            <p:nvPr/>
          </p:nvSpPr>
          <p:spPr>
            <a:xfrm>
              <a:off x="948812" y="3540532"/>
              <a:ext cx="2536721" cy="288540"/>
            </a:xfrm>
            <a:prstGeom prst="rect">
              <a:avLst/>
            </a:prstGeom>
            <a:grpFill/>
            <a:ln w="50800" cmpd="dbl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Account</a:t>
              </a:r>
              <a:endParaRPr lang="fr-BE" sz="14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7176796-C18C-CCF2-44EB-56E7D21629B0}"/>
                </a:ext>
              </a:extLst>
            </p:cNvPr>
            <p:cNvSpPr txBox="1"/>
            <p:nvPr/>
          </p:nvSpPr>
          <p:spPr>
            <a:xfrm>
              <a:off x="948814" y="3785561"/>
              <a:ext cx="2536721" cy="288540"/>
            </a:xfrm>
            <a:prstGeom prst="rect">
              <a:avLst/>
            </a:prstGeom>
            <a:grpFill/>
            <a:ln w="50800" cmpd="dbl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C3E48C5-5E8B-F349-D576-EC6CFB701554}"/>
              </a:ext>
            </a:extLst>
          </p:cNvPr>
          <p:cNvGrpSpPr/>
          <p:nvPr/>
        </p:nvGrpSpPr>
        <p:grpSpPr>
          <a:xfrm>
            <a:off x="9228327" y="2372608"/>
            <a:ext cx="1626355" cy="1861803"/>
            <a:chOff x="948812" y="3540532"/>
            <a:chExt cx="2536723" cy="1745437"/>
          </a:xfrm>
          <a:solidFill>
            <a:schemeClr val="bg1"/>
          </a:solidFill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FED97B5-C847-56F3-6EAA-17C00A9D56CD}"/>
                </a:ext>
              </a:extLst>
            </p:cNvPr>
            <p:cNvSpPr txBox="1"/>
            <p:nvPr/>
          </p:nvSpPr>
          <p:spPr>
            <a:xfrm>
              <a:off x="948812" y="3540532"/>
              <a:ext cx="2536721" cy="2885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Event</a:t>
              </a:r>
              <a:endParaRPr lang="fr-BE" sz="14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DBD7F54-1E2B-D6FC-DB0D-A2734ED10632}"/>
                </a:ext>
              </a:extLst>
            </p:cNvPr>
            <p:cNvSpPr txBox="1"/>
            <p:nvPr/>
          </p:nvSpPr>
          <p:spPr>
            <a:xfrm>
              <a:off x="948814" y="3785561"/>
              <a:ext cx="2536721" cy="150040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304782" indent="-304782">
                <a:buFontTx/>
                <a:buChar char="-"/>
              </a:pPr>
              <a:r>
                <a:rPr lang="en-GB" sz="1400" dirty="0"/>
                <a:t>Major Category</a:t>
              </a:r>
            </a:p>
            <a:p>
              <a:pPr marL="304782" indent="-304782">
                <a:buFontTx/>
                <a:buChar char="-"/>
              </a:pPr>
              <a:r>
                <a:rPr lang="en-GB" sz="1400" dirty="0"/>
                <a:t>Minor Category</a:t>
              </a:r>
            </a:p>
            <a:p>
              <a:pPr marL="304782" indent="-304782">
                <a:buFontTx/>
                <a:buChar char="-"/>
              </a:pPr>
              <a:r>
                <a:rPr lang="en-GB" sz="1400" dirty="0"/>
                <a:t>Available tickets</a:t>
              </a:r>
            </a:p>
            <a:p>
              <a:pPr marL="304782" indent="-304782">
                <a:buFontTx/>
                <a:buChar char="-"/>
              </a:pPr>
              <a:r>
                <a:rPr lang="en-GB" sz="1400" u="sng" dirty="0"/>
                <a:t>Artist name</a:t>
              </a:r>
            </a:p>
            <a:p>
              <a:pPr marL="304782" indent="-304782">
                <a:buFontTx/>
                <a:buChar char="-"/>
              </a:pPr>
              <a:r>
                <a:rPr lang="en-GB" sz="1400" u="sng" dirty="0"/>
                <a:t>Date</a:t>
              </a:r>
            </a:p>
            <a:p>
              <a:pPr marL="304782" indent="-304782">
                <a:buFontTx/>
                <a:buChar char="-"/>
              </a:pPr>
              <a:r>
                <a:rPr lang="en-GB" sz="1400" u="sng" dirty="0"/>
                <a:t>Venue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BA823DD-0DBE-44CA-14C7-BA894CE6ACE3}"/>
              </a:ext>
            </a:extLst>
          </p:cNvPr>
          <p:cNvGrpSpPr/>
          <p:nvPr/>
        </p:nvGrpSpPr>
        <p:grpSpPr>
          <a:xfrm>
            <a:off x="996821" y="3369772"/>
            <a:ext cx="1626354" cy="1646361"/>
            <a:chOff x="948812" y="3540532"/>
            <a:chExt cx="2536722" cy="1543460"/>
          </a:xfrm>
          <a:solidFill>
            <a:schemeClr val="bg1"/>
          </a:solidFill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9D0994C-E96A-6827-8462-B7CAEFAB8C2A}"/>
                </a:ext>
              </a:extLst>
            </p:cNvPr>
            <p:cNvSpPr txBox="1"/>
            <p:nvPr/>
          </p:nvSpPr>
          <p:spPr>
            <a:xfrm>
              <a:off x="948812" y="3540532"/>
              <a:ext cx="2536721" cy="288540"/>
            </a:xfrm>
            <a:prstGeom prst="rect">
              <a:avLst/>
            </a:prstGeom>
            <a:grpFill/>
            <a:ln w="50800" cmpd="dbl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Ticket</a:t>
              </a:r>
              <a:endParaRPr lang="fr-BE" sz="14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C2E9011-138F-233B-300B-05A393118B3D}"/>
                </a:ext>
              </a:extLst>
            </p:cNvPr>
            <p:cNvSpPr txBox="1"/>
            <p:nvPr/>
          </p:nvSpPr>
          <p:spPr>
            <a:xfrm>
              <a:off x="948814" y="3785562"/>
              <a:ext cx="2536720" cy="1298430"/>
            </a:xfrm>
            <a:prstGeom prst="rect">
              <a:avLst/>
            </a:prstGeom>
            <a:grpFill/>
            <a:ln w="50800" cmpd="dbl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304782" indent="-304782">
                <a:buFontTx/>
                <a:buChar char="-"/>
              </a:pPr>
              <a:r>
                <a:rPr lang="en-US" sz="1400" u="dashLong" dirty="0"/>
                <a:t>Code</a:t>
              </a:r>
            </a:p>
            <a:p>
              <a:pPr marL="304782" indent="-304782">
                <a:buFontTx/>
                <a:buChar char="-"/>
              </a:pPr>
              <a:r>
                <a:rPr lang="en-US" sz="1400" dirty="0"/>
                <a:t>Type</a:t>
              </a:r>
            </a:p>
            <a:p>
              <a:pPr marL="304782" indent="-304782">
                <a:buFontTx/>
                <a:buChar char="-"/>
              </a:pPr>
              <a:r>
                <a:rPr lang="en-US" sz="1400" dirty="0"/>
                <a:t>Price</a:t>
              </a:r>
            </a:p>
            <a:p>
              <a:pPr marL="304782" indent="-304782">
                <a:buFontTx/>
                <a:buChar char="-"/>
              </a:pPr>
              <a:r>
                <a:rPr lang="en-GB" sz="1400" dirty="0"/>
                <a:t>Promotion date</a:t>
              </a:r>
            </a:p>
            <a:p>
              <a:pPr marL="304782" indent="-304782">
                <a:buFontTx/>
                <a:buChar char="-"/>
              </a:pPr>
              <a:r>
                <a:rPr lang="en-GB" sz="1400" dirty="0"/>
                <a:t>Discount</a:t>
              </a:r>
            </a:p>
            <a:p>
              <a:pPr marL="304782" indent="-304782">
                <a:buFontTx/>
                <a:buChar char="-"/>
              </a:pPr>
              <a:r>
                <a:rPr lang="en-GB" sz="1400" dirty="0"/>
                <a:t>Seat number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8DCE8E4-6AA4-B5C2-1739-52EB989D29CB}"/>
              </a:ext>
            </a:extLst>
          </p:cNvPr>
          <p:cNvGrpSpPr/>
          <p:nvPr/>
        </p:nvGrpSpPr>
        <p:grpSpPr>
          <a:xfrm>
            <a:off x="5821356" y="3715899"/>
            <a:ext cx="1626355" cy="1215472"/>
            <a:chOff x="948812" y="3540532"/>
            <a:chExt cx="2536723" cy="1139503"/>
          </a:xfrm>
          <a:solidFill>
            <a:schemeClr val="bg1"/>
          </a:solidFill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2A9B2AD-9966-BC42-A6DC-632C4672184E}"/>
                </a:ext>
              </a:extLst>
            </p:cNvPr>
            <p:cNvSpPr txBox="1"/>
            <p:nvPr/>
          </p:nvSpPr>
          <p:spPr>
            <a:xfrm>
              <a:off x="948812" y="3540532"/>
              <a:ext cx="2536721" cy="2885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Customer</a:t>
              </a:r>
              <a:endParaRPr lang="fr-BE" sz="14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F741977-4D26-657E-BC42-A3C003083441}"/>
                </a:ext>
              </a:extLst>
            </p:cNvPr>
            <p:cNvSpPr txBox="1"/>
            <p:nvPr/>
          </p:nvSpPr>
          <p:spPr>
            <a:xfrm>
              <a:off x="948814" y="3785561"/>
              <a:ext cx="2536721" cy="89447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304782" indent="-304782">
                <a:buFontTx/>
                <a:buChar char="-"/>
              </a:pPr>
              <a:r>
                <a:rPr lang="en-GB" sz="1400" dirty="0"/>
                <a:t>First name</a:t>
              </a:r>
            </a:p>
            <a:p>
              <a:pPr marL="304782" indent="-304782">
                <a:buFontTx/>
                <a:buChar char="-"/>
              </a:pPr>
              <a:r>
                <a:rPr lang="en-GB" sz="1400" dirty="0"/>
                <a:t>Last name</a:t>
              </a:r>
            </a:p>
            <a:p>
              <a:pPr marL="304782" indent="-304782">
                <a:buFontTx/>
                <a:buChar char="-"/>
              </a:pPr>
              <a:r>
                <a:rPr lang="en-GB" sz="1400" dirty="0"/>
                <a:t>Birth date</a:t>
              </a:r>
            </a:p>
            <a:p>
              <a:pPr marL="304782" indent="-304782">
                <a:buFontTx/>
                <a:buChar char="-"/>
              </a:pPr>
              <a:r>
                <a:rPr lang="en-GB" sz="1400" u="sng" dirty="0"/>
                <a:t>Email address</a:t>
              </a:r>
            </a:p>
          </p:txBody>
        </p:sp>
      </p:grpSp>
      <p:sp>
        <p:nvSpPr>
          <p:cNvPr id="32" name="Diamond 31">
            <a:extLst>
              <a:ext uri="{FF2B5EF4-FFF2-40B4-BE49-F238E27FC236}">
                <a16:creationId xmlns:a16="http://schemas.microsoft.com/office/drawing/2014/main" id="{9AF2C92C-C9B8-DD48-D668-FD0015EF5284}"/>
              </a:ext>
            </a:extLst>
          </p:cNvPr>
          <p:cNvSpPr/>
          <p:nvPr/>
        </p:nvSpPr>
        <p:spPr>
          <a:xfrm>
            <a:off x="3436353" y="864907"/>
            <a:ext cx="1571827" cy="532418"/>
          </a:xfrm>
          <a:prstGeom prst="diamond">
            <a:avLst/>
          </a:prstGeom>
          <a:solidFill>
            <a:schemeClr val="bg1"/>
          </a:solidFill>
          <a:ln w="50800" cap="flat" cmpd="dbl">
            <a:solidFill>
              <a:schemeClr val="dk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Logs in with</a:t>
            </a:r>
            <a:endParaRPr lang="fr-BE" sz="1400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3A050BC-E1FE-C6D4-079B-E209ABB44CF8}"/>
              </a:ext>
            </a:extLst>
          </p:cNvPr>
          <p:cNvCxnSpPr>
            <a:cxnSpLocks/>
            <a:stCxn id="4" idx="3"/>
            <a:endCxn id="32" idx="1"/>
          </p:cNvCxnSpPr>
          <p:nvPr/>
        </p:nvCxnSpPr>
        <p:spPr>
          <a:xfrm flipV="1">
            <a:off x="2623175" y="1131116"/>
            <a:ext cx="813178" cy="5070"/>
          </a:xfrm>
          <a:prstGeom prst="straightConnector1">
            <a:avLst/>
          </a:prstGeom>
          <a:ln w="76200" cap="sq" cmpd="dbl">
            <a:solidFill>
              <a:schemeClr val="dk1"/>
            </a:solidFill>
            <a:prstDash val="solid"/>
            <a:miter lim="800000"/>
            <a:headEnd type="none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C7CD635-BC1F-186C-76F7-BC2BC1F16473}"/>
              </a:ext>
            </a:extLst>
          </p:cNvPr>
          <p:cNvCxnSpPr>
            <a:cxnSpLocks/>
            <a:stCxn id="32" idx="3"/>
            <a:endCxn id="7" idx="1"/>
          </p:cNvCxnSpPr>
          <p:nvPr/>
        </p:nvCxnSpPr>
        <p:spPr>
          <a:xfrm>
            <a:off x="5008180" y="1131116"/>
            <a:ext cx="813178" cy="28276"/>
          </a:xfrm>
          <a:prstGeom prst="straightConnector1">
            <a:avLst/>
          </a:prstGeom>
          <a:ln w="76200" cap="sq" cmpd="dbl">
            <a:solidFill>
              <a:schemeClr val="dk1"/>
            </a:solidFill>
            <a:prstDash val="solid"/>
            <a:miter lim="800000"/>
            <a:headEnd type="none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Diamond 38">
            <a:extLst>
              <a:ext uri="{FF2B5EF4-FFF2-40B4-BE49-F238E27FC236}">
                <a16:creationId xmlns:a16="http://schemas.microsoft.com/office/drawing/2014/main" id="{10DA150A-D44E-F9A4-9AC9-1562C9249CA9}"/>
              </a:ext>
            </a:extLst>
          </p:cNvPr>
          <p:cNvSpPr/>
          <p:nvPr/>
        </p:nvSpPr>
        <p:spPr>
          <a:xfrm>
            <a:off x="9228327" y="951355"/>
            <a:ext cx="1571827" cy="387798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Creates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68AB8DB-5DE8-C895-B0E2-DF69314FBF9A}"/>
              </a:ext>
            </a:extLst>
          </p:cNvPr>
          <p:cNvCxnSpPr>
            <a:cxnSpLocks/>
            <a:stCxn id="7" idx="3"/>
            <a:endCxn id="39" idx="1"/>
          </p:cNvCxnSpPr>
          <p:nvPr/>
        </p:nvCxnSpPr>
        <p:spPr>
          <a:xfrm flipV="1">
            <a:off x="7447712" y="1145254"/>
            <a:ext cx="1780615" cy="14138"/>
          </a:xfrm>
          <a:prstGeom prst="straightConnector1">
            <a:avLst/>
          </a:prstGeom>
          <a:ln w="76200" cap="sq" cmpd="dbl">
            <a:solidFill>
              <a:schemeClr val="dk1"/>
            </a:solidFill>
            <a:prstDash val="solid"/>
            <a:miter lim="800000"/>
            <a:headEnd type="none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B6F7217-BFAB-E2FD-84B7-2C542B8E1550}"/>
              </a:ext>
            </a:extLst>
          </p:cNvPr>
          <p:cNvCxnSpPr>
            <a:cxnSpLocks/>
            <a:stCxn id="9" idx="0"/>
            <a:endCxn id="39" idx="2"/>
          </p:cNvCxnSpPr>
          <p:nvPr/>
        </p:nvCxnSpPr>
        <p:spPr>
          <a:xfrm flipH="1" flipV="1">
            <a:off x="10014241" y="1339153"/>
            <a:ext cx="27263" cy="1033455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Diamond 50">
            <a:extLst>
              <a:ext uri="{FF2B5EF4-FFF2-40B4-BE49-F238E27FC236}">
                <a16:creationId xmlns:a16="http://schemas.microsoft.com/office/drawing/2014/main" id="{F7B3034D-AD10-6CF6-D455-957D7070F9AA}"/>
              </a:ext>
            </a:extLst>
          </p:cNvPr>
          <p:cNvSpPr/>
          <p:nvPr/>
        </p:nvSpPr>
        <p:spPr>
          <a:xfrm>
            <a:off x="1024083" y="2138698"/>
            <a:ext cx="1571827" cy="387798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Sets the price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F3CD7CA-95C2-22D3-B836-1515A40A5D61}"/>
              </a:ext>
            </a:extLst>
          </p:cNvPr>
          <p:cNvCxnSpPr>
            <a:cxnSpLocks/>
            <a:stCxn id="4" idx="2"/>
            <a:endCxn id="51" idx="0"/>
          </p:cNvCxnSpPr>
          <p:nvPr/>
        </p:nvCxnSpPr>
        <p:spPr>
          <a:xfrm flipH="1">
            <a:off x="1809997" y="1290074"/>
            <a:ext cx="1" cy="848624"/>
          </a:xfrm>
          <a:prstGeom prst="straightConnector1">
            <a:avLst/>
          </a:prstGeom>
          <a:ln w="76200" cap="sq" cmpd="dbl">
            <a:solidFill>
              <a:schemeClr val="dk1"/>
            </a:solidFill>
            <a:prstDash val="solid"/>
            <a:miter lim="800000"/>
            <a:headEnd type="none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BB2D887-ED80-FED5-C98B-001176CE8344}"/>
              </a:ext>
            </a:extLst>
          </p:cNvPr>
          <p:cNvCxnSpPr>
            <a:cxnSpLocks/>
            <a:stCxn id="12" idx="0"/>
            <a:endCxn id="51" idx="2"/>
          </p:cNvCxnSpPr>
          <p:nvPr/>
        </p:nvCxnSpPr>
        <p:spPr>
          <a:xfrm flipH="1" flipV="1">
            <a:off x="1809997" y="2526496"/>
            <a:ext cx="1" cy="843276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5EF66CA-B93E-E4B1-F3E7-FCCDE319DC02}"/>
              </a:ext>
            </a:extLst>
          </p:cNvPr>
          <p:cNvCxnSpPr>
            <a:cxnSpLocks/>
            <a:stCxn id="51" idx="3"/>
            <a:endCxn id="63" idx="2"/>
          </p:cNvCxnSpPr>
          <p:nvPr/>
        </p:nvCxnSpPr>
        <p:spPr>
          <a:xfrm>
            <a:off x="2595910" y="2332597"/>
            <a:ext cx="1014740" cy="0"/>
          </a:xfrm>
          <a:prstGeom prst="straightConnector1">
            <a:avLst/>
          </a:prstGeom>
          <a:ln w="25400" cmpd="sng">
            <a:prstDash val="sysDot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C55E9930-247C-74BF-673B-3CFE203FFA59}"/>
              </a:ext>
            </a:extLst>
          </p:cNvPr>
          <p:cNvSpPr/>
          <p:nvPr/>
        </p:nvSpPr>
        <p:spPr>
          <a:xfrm>
            <a:off x="3610650" y="2138698"/>
            <a:ext cx="1223231" cy="387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4" dirty="0">
                <a:solidFill>
                  <a:schemeClr val="tx1"/>
                </a:solidFill>
              </a:rPr>
              <a:t>Type</a:t>
            </a:r>
          </a:p>
        </p:txBody>
      </p:sp>
      <p:sp>
        <p:nvSpPr>
          <p:cNvPr id="66" name="Diamond 65">
            <a:extLst>
              <a:ext uri="{FF2B5EF4-FFF2-40B4-BE49-F238E27FC236}">
                <a16:creationId xmlns:a16="http://schemas.microsoft.com/office/drawing/2014/main" id="{16025636-04AA-3CF0-927B-7AFE4FA19AF0}"/>
              </a:ext>
            </a:extLst>
          </p:cNvPr>
          <p:cNvSpPr/>
          <p:nvPr/>
        </p:nvSpPr>
        <p:spPr>
          <a:xfrm>
            <a:off x="3610650" y="4129737"/>
            <a:ext cx="1571827" cy="387798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Buys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7CFC6E6-B864-3748-EAD6-0671338A9CB6}"/>
              </a:ext>
            </a:extLst>
          </p:cNvPr>
          <p:cNvCxnSpPr>
            <a:cxnSpLocks/>
            <a:stCxn id="66" idx="3"/>
          </p:cNvCxnSpPr>
          <p:nvPr/>
        </p:nvCxnSpPr>
        <p:spPr>
          <a:xfrm>
            <a:off x="5182477" y="4323636"/>
            <a:ext cx="631652" cy="1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5AF1901-5F2B-4EE9-AAA4-F04506FBF431}"/>
              </a:ext>
            </a:extLst>
          </p:cNvPr>
          <p:cNvCxnSpPr>
            <a:cxnSpLocks/>
            <a:stCxn id="13" idx="3"/>
            <a:endCxn id="66" idx="1"/>
          </p:cNvCxnSpPr>
          <p:nvPr/>
        </p:nvCxnSpPr>
        <p:spPr>
          <a:xfrm>
            <a:off x="2623175" y="4323636"/>
            <a:ext cx="987475" cy="0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42608931-4FFB-8D82-5EDA-1E911A994653}"/>
              </a:ext>
            </a:extLst>
          </p:cNvPr>
          <p:cNvSpPr/>
          <p:nvPr/>
        </p:nvSpPr>
        <p:spPr>
          <a:xfrm>
            <a:off x="3784949" y="5258908"/>
            <a:ext cx="1223231" cy="387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4" dirty="0">
                <a:solidFill>
                  <a:schemeClr val="tx1"/>
                </a:solidFill>
              </a:rPr>
              <a:t>Date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8CF63478-2A47-A8FF-0C16-3690FF297B97}"/>
              </a:ext>
            </a:extLst>
          </p:cNvPr>
          <p:cNvCxnSpPr>
            <a:cxnSpLocks/>
            <a:stCxn id="66" idx="2"/>
            <a:endCxn id="78" idx="0"/>
          </p:cNvCxnSpPr>
          <p:nvPr/>
        </p:nvCxnSpPr>
        <p:spPr>
          <a:xfrm>
            <a:off x="4396564" y="4517535"/>
            <a:ext cx="1" cy="741373"/>
          </a:xfrm>
          <a:prstGeom prst="straightConnector1">
            <a:avLst/>
          </a:prstGeom>
          <a:ln w="25400" cmpd="sng">
            <a:prstDash val="sysDot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410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</TotalTime>
  <Words>239</Words>
  <Application>Microsoft Office PowerPoint</Application>
  <PresentationFormat>Widescreen</PresentationFormat>
  <Paragraphs>80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Abdellah El Moussaoui</cp:lastModifiedBy>
  <cp:revision>326</cp:revision>
  <cp:lastPrinted>2019-10-16T17:52:17Z</cp:lastPrinted>
  <dcterms:created xsi:type="dcterms:W3CDTF">2016-09-27T13:37:05Z</dcterms:created>
  <dcterms:modified xsi:type="dcterms:W3CDTF">2025-12-03T10:52:12Z</dcterms:modified>
</cp:coreProperties>
</file>