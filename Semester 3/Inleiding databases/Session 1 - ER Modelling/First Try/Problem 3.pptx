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36" autoAdjust="0"/>
    <p:restoredTop sz="79380"/>
  </p:normalViewPr>
  <p:slideViewPr>
    <p:cSldViewPr snapToGrid="0" snapToObjects="1">
      <p:cViewPr varScale="1">
        <p:scale>
          <a:sx n="49" d="100"/>
          <a:sy n="49" d="100"/>
        </p:scale>
        <p:origin x="67" y="9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E4C96-B90C-FF48-8FA9-261C019C58F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D38F8-3DE6-6E4A-B603-50AB8CF83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9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D38F8-3DE6-6E4A-B603-50AB8CF830A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86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290C6-6279-C8C7-002C-977018FB9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9FC687-53BF-A37D-EB8A-A6C8FCA00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14FEE-64A3-53A3-D93A-DBBC2CCF1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B78D3-C313-3C6D-29BA-4E25D7C65E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D38F8-3DE6-6E4A-B603-50AB8CF830A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12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2612E-531E-52F7-34EA-BBB627382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0C04C-9DC6-992F-5FC8-999BFEECD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5574C-5093-D766-0D85-65A3E9947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B4ECC-8FED-696D-8398-463490029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D38F8-3DE6-6E4A-B603-50AB8CF830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31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4CD45-0F6A-78A3-B57E-30CF7F23A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5E5D7-4DA8-FCE7-47F7-2EB697CF8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FA5DC-9EAE-1319-4291-7ABE2509A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D52BC-E8B7-49DE-35DD-C82583E72B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D38F8-3DE6-6E4A-B603-50AB8CF830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37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04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07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10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0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3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46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07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02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25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57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49839-8021-2D40-A7B8-F60B2869263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5EE33B8-D271-47BD-9756-2F4FE01E40C0}"/>
              </a:ext>
            </a:extLst>
          </p:cNvPr>
          <p:cNvGrpSpPr/>
          <p:nvPr userDrawn="1"/>
        </p:nvGrpSpPr>
        <p:grpSpPr>
          <a:xfrm>
            <a:off x="6199281" y="6162925"/>
            <a:ext cx="5992721" cy="695077"/>
            <a:chOff x="7815883" y="6291475"/>
            <a:chExt cx="4213632" cy="48872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F63913E-6D18-4D3B-8B65-1A76C18A25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7815883" y="6291475"/>
              <a:ext cx="2852117" cy="4887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3CA9295-C3B2-4C83-8428-D41A5BC118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10678085" y="6291475"/>
              <a:ext cx="1351430" cy="43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241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4BF8F0-C004-A48B-9037-52F506337E14}"/>
              </a:ext>
            </a:extLst>
          </p:cNvPr>
          <p:cNvSpPr txBox="1"/>
          <p:nvPr/>
        </p:nvSpPr>
        <p:spPr>
          <a:xfrm>
            <a:off x="534838" y="552091"/>
            <a:ext cx="1110219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Determine Entities</a:t>
            </a:r>
          </a:p>
          <a:p>
            <a:pPr marL="742932" lvl="1" indent="-285750">
              <a:buFont typeface="Arial" panose="020B0604020202020204" pitchFamily="34" charset="0"/>
              <a:buChar char="•"/>
            </a:pPr>
            <a:r>
              <a:rPr lang="en-US" dirty="0"/>
              <a:t>User</a:t>
            </a:r>
          </a:p>
          <a:p>
            <a:pPr marL="742932" lvl="1" indent="-285750">
              <a:buFont typeface="Arial" panose="020B0604020202020204" pitchFamily="34" charset="0"/>
              <a:buChar char="•"/>
            </a:pPr>
            <a:r>
              <a:rPr lang="en-US" dirty="0"/>
              <a:t>Group</a:t>
            </a:r>
          </a:p>
          <a:p>
            <a:pPr marL="742932" lvl="1" indent="-285750">
              <a:buFont typeface="Arial" panose="020B0604020202020204" pitchFamily="34" charset="0"/>
              <a:buChar char="•"/>
            </a:pPr>
            <a:r>
              <a:rPr lang="en-US" dirty="0"/>
              <a:t>Message</a:t>
            </a:r>
          </a:p>
          <a:p>
            <a:pPr marL="742932" lvl="1" indent="-285750">
              <a:buFont typeface="Arial" panose="020B0604020202020204" pitchFamily="34" charset="0"/>
              <a:buChar char="•"/>
            </a:pPr>
            <a:r>
              <a:rPr lang="en-US" dirty="0"/>
              <a:t>Post</a:t>
            </a:r>
          </a:p>
          <a:p>
            <a:pPr marL="742932" lvl="1" indent="-285750">
              <a:buFont typeface="Arial" panose="020B0604020202020204" pitchFamily="34" charset="0"/>
              <a:buChar char="•"/>
            </a:pPr>
            <a:r>
              <a:rPr lang="en-US" dirty="0"/>
              <a:t>Reaction</a:t>
            </a:r>
          </a:p>
          <a:p>
            <a:pPr marL="742932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Determine primitive attributes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Determine attributes that define the identity of an entity</a:t>
            </a:r>
          </a:p>
          <a:p>
            <a:pPr marL="742932" lvl="1" indent="-285750">
              <a:buFont typeface="Arial" panose="020B0604020202020204" pitchFamily="34" charset="0"/>
              <a:buChar char="•"/>
            </a:pPr>
            <a:r>
              <a:rPr lang="en-US" b="1" dirty="0"/>
              <a:t>User</a:t>
            </a:r>
          </a:p>
          <a:p>
            <a:pPr marL="1200113" lvl="2" indent="-285750">
              <a:buFont typeface="Arial" panose="020B0604020202020204" pitchFamily="34" charset="0"/>
              <a:buChar char="•"/>
            </a:pPr>
            <a:r>
              <a:rPr lang="en-US" dirty="0"/>
              <a:t>First name</a:t>
            </a:r>
          </a:p>
          <a:p>
            <a:pPr marL="1200113" lvl="2" indent="-285750">
              <a:buFont typeface="Arial" panose="020B0604020202020204" pitchFamily="34" charset="0"/>
              <a:buChar char="•"/>
            </a:pPr>
            <a:r>
              <a:rPr lang="en-US" dirty="0"/>
              <a:t>Last name</a:t>
            </a:r>
          </a:p>
          <a:p>
            <a:pPr marL="1200113" lvl="2" indent="-285750">
              <a:buFont typeface="Arial" panose="020B0604020202020204" pitchFamily="34" charset="0"/>
              <a:buChar char="•"/>
            </a:pPr>
            <a:r>
              <a:rPr lang="en-US" dirty="0"/>
              <a:t>Username</a:t>
            </a:r>
          </a:p>
          <a:p>
            <a:pPr marL="1200113" lvl="2" indent="-285750">
              <a:buFont typeface="Arial" panose="020B0604020202020204" pitchFamily="34" charset="0"/>
              <a:buChar char="•"/>
            </a:pPr>
            <a:r>
              <a:rPr lang="en-US" u="sng" dirty="0"/>
              <a:t>Email</a:t>
            </a:r>
          </a:p>
          <a:p>
            <a:pPr marL="742932" lvl="1" indent="-285750">
              <a:buFont typeface="Arial" panose="020B0604020202020204" pitchFamily="34" charset="0"/>
              <a:buChar char="•"/>
            </a:pPr>
            <a:r>
              <a:rPr lang="en-US" b="1" dirty="0"/>
              <a:t>Group</a:t>
            </a:r>
            <a:endParaRPr lang="en-US" dirty="0"/>
          </a:p>
          <a:p>
            <a:pPr marL="742932" lvl="1" indent="-285750">
              <a:buFont typeface="Arial" panose="020B0604020202020204" pitchFamily="34" charset="0"/>
              <a:buChar char="•"/>
            </a:pPr>
            <a:r>
              <a:rPr lang="en-US" b="1" dirty="0"/>
              <a:t>Message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u="sng" dirty="0"/>
              <a:t>Id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/>
              <a:t>Picture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/>
              <a:t>Text message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/>
              <a:t>Visibility</a:t>
            </a:r>
          </a:p>
          <a:p>
            <a:pPr marL="800082" lvl="1" indent="-342900">
              <a:buFont typeface="Arial" panose="020B0604020202020204" pitchFamily="34" charset="0"/>
              <a:buChar char="•"/>
            </a:pPr>
            <a:r>
              <a:rPr lang="en-US" b="1" dirty="0"/>
              <a:t>Post</a:t>
            </a:r>
          </a:p>
        </p:txBody>
      </p:sp>
    </p:spTree>
    <p:extLst>
      <p:ext uri="{BB962C8B-B14F-4D97-AF65-F5344CB8AC3E}">
        <p14:creationId xmlns:p14="http://schemas.microsoft.com/office/powerpoint/2010/main" val="119786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5BDCC-9F52-C371-FAA8-C53C9A72F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0991E1-DD7B-A254-CA01-7D1EB78568BA}"/>
              </a:ext>
            </a:extLst>
          </p:cNvPr>
          <p:cNvSpPr txBox="1"/>
          <p:nvPr/>
        </p:nvSpPr>
        <p:spPr>
          <a:xfrm>
            <a:off x="534838" y="552091"/>
            <a:ext cx="111021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/>
              <a:t>Likes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u="sng" dirty="0"/>
              <a:t>Id</a:t>
            </a:r>
          </a:p>
          <a:p>
            <a:pPr marL="800082" lvl="1" indent="-342900">
              <a:buFont typeface="Arial" panose="020B0604020202020204" pitchFamily="34" charset="0"/>
              <a:buChar char="•"/>
            </a:pPr>
            <a:r>
              <a:rPr lang="en-US" b="1" dirty="0"/>
              <a:t>Reaction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/>
              <a:t>Message</a:t>
            </a:r>
          </a:p>
          <a:p>
            <a:pPr marL="1257263" lvl="2" indent="-342900">
              <a:buFont typeface="Arial" panose="020B0604020202020204" pitchFamily="34" charset="0"/>
              <a:buChar char="•"/>
            </a:pPr>
            <a:r>
              <a:rPr lang="en-US" dirty="0" err="1"/>
              <a:t>Has_liked</a:t>
            </a:r>
            <a:endParaRPr lang="en-US" dirty="0"/>
          </a:p>
          <a:p>
            <a:pPr marL="1257263" lvl="2" indent="-342900">
              <a:buFont typeface="Arial" panose="020B0604020202020204" pitchFamily="34" charset="0"/>
              <a:buChar char="•"/>
            </a:pPr>
            <a:endParaRPr lang="en-US" u="sng" dirty="0"/>
          </a:p>
          <a:p>
            <a:pPr marL="342900" indent="-342900">
              <a:buFont typeface="+mj-lt"/>
              <a:buAutoNum type="arabicPeriod" startAt="4"/>
            </a:pPr>
            <a:r>
              <a:rPr lang="en-US" dirty="0"/>
              <a:t>Determine relations &amp; relation properties</a:t>
            </a:r>
          </a:p>
          <a:p>
            <a:pPr marL="800082" lvl="1" indent="-342900">
              <a:buFont typeface="Arial" panose="020B0604020202020204" pitchFamily="34" charset="0"/>
              <a:buChar char="•"/>
            </a:pPr>
            <a:r>
              <a:rPr lang="en-US" dirty="0"/>
              <a:t>Each User has one or more friends. (many/many) (zero/zero)</a:t>
            </a:r>
          </a:p>
          <a:p>
            <a:pPr marL="800082" lvl="1" indent="-342900">
              <a:buFont typeface="Arial" panose="020B0604020202020204" pitchFamily="34" charset="0"/>
              <a:buChar char="•"/>
            </a:pPr>
            <a:r>
              <a:rPr lang="en-US" dirty="0"/>
              <a:t>A User can belong to zero or more Groups.</a:t>
            </a:r>
          </a:p>
          <a:p>
            <a:pPr marL="800082" lvl="1" indent="-342900">
              <a:buFont typeface="Arial" panose="020B0604020202020204" pitchFamily="34" charset="0"/>
              <a:buChar char="•"/>
            </a:pPr>
            <a:r>
              <a:rPr lang="en-US" dirty="0"/>
              <a:t>A User can post a Message.</a:t>
            </a:r>
          </a:p>
          <a:p>
            <a:pPr marL="800082" lvl="1" indent="-342900">
              <a:buFont typeface="Arial" panose="020B0604020202020204" pitchFamily="34" charset="0"/>
              <a:buChar char="•"/>
            </a:pPr>
            <a:r>
              <a:rPr lang="en-US" dirty="0"/>
              <a:t>Users can react to Posts.</a:t>
            </a:r>
          </a:p>
          <a:p>
            <a:pPr marL="800082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080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22E33-BA2D-EC8A-D4BE-235468B9A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033B51-D8AF-368A-8CEC-58B072A97579}"/>
              </a:ext>
            </a:extLst>
          </p:cNvPr>
          <p:cNvCxnSpPr>
            <a:cxnSpLocks/>
          </p:cNvCxnSpPr>
          <p:nvPr/>
        </p:nvCxnSpPr>
        <p:spPr>
          <a:xfrm flipH="1">
            <a:off x="0" y="3073625"/>
            <a:ext cx="1828800" cy="0"/>
          </a:xfrm>
          <a:prstGeom prst="straightConnector1">
            <a:avLst/>
          </a:prstGeom>
          <a:ln w="25400" cmpd="sng">
            <a:headEnd type="triangle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19052F0-4B97-5012-3D84-A310D5430E0F}"/>
              </a:ext>
            </a:extLst>
          </p:cNvPr>
          <p:cNvCxnSpPr>
            <a:cxnSpLocks/>
          </p:cNvCxnSpPr>
          <p:nvPr/>
        </p:nvCxnSpPr>
        <p:spPr>
          <a:xfrm>
            <a:off x="0" y="2489521"/>
            <a:ext cx="1828800" cy="0"/>
          </a:xfrm>
          <a:prstGeom prst="straightConnector1">
            <a:avLst/>
          </a:prstGeom>
          <a:ln w="76200" cap="sq" cmpd="dbl">
            <a:solidFill>
              <a:schemeClr val="dk1"/>
            </a:solidFill>
            <a:prstDash val="solid"/>
            <a:miter lim="800000"/>
            <a:headEnd type="none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20203A7-8535-B726-7587-33DCB31C7C9A}"/>
              </a:ext>
            </a:extLst>
          </p:cNvPr>
          <p:cNvCxnSpPr>
            <a:cxnSpLocks/>
          </p:cNvCxnSpPr>
          <p:nvPr/>
        </p:nvCxnSpPr>
        <p:spPr>
          <a:xfrm flipV="1">
            <a:off x="0" y="2781573"/>
            <a:ext cx="1828800" cy="0"/>
          </a:xfrm>
          <a:prstGeom prst="straightConnector1">
            <a:avLst/>
          </a:prstGeom>
          <a:ln w="25400" cmpd="sng">
            <a:prstDash val="sysDot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C1260E-9C2F-AC36-736D-D34485DEA8CF}"/>
              </a:ext>
            </a:extLst>
          </p:cNvPr>
          <p:cNvCxnSpPr>
            <a:cxnSpLocks/>
          </p:cNvCxnSpPr>
          <p:nvPr/>
        </p:nvCxnSpPr>
        <p:spPr>
          <a:xfrm flipH="1" flipV="1">
            <a:off x="0" y="3657729"/>
            <a:ext cx="1828800" cy="0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Diamond 23">
            <a:extLst>
              <a:ext uri="{FF2B5EF4-FFF2-40B4-BE49-F238E27FC236}">
                <a16:creationId xmlns:a16="http://schemas.microsoft.com/office/drawing/2014/main" id="{37EE9EE1-FACA-D30B-8B87-E2211E9C7C37}"/>
              </a:ext>
            </a:extLst>
          </p:cNvPr>
          <p:cNvSpPr/>
          <p:nvPr/>
        </p:nvSpPr>
        <p:spPr>
          <a:xfrm>
            <a:off x="128487" y="6133955"/>
            <a:ext cx="1571827" cy="387798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Relation</a:t>
            </a:r>
            <a:endParaRPr lang="fr-BE" sz="1400" dirty="0">
              <a:solidFill>
                <a:schemeClr val="tx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358AF8F-C9E2-2198-DAC3-6542536940D5}"/>
              </a:ext>
            </a:extLst>
          </p:cNvPr>
          <p:cNvSpPr/>
          <p:nvPr/>
        </p:nvSpPr>
        <p:spPr>
          <a:xfrm>
            <a:off x="302785" y="5454102"/>
            <a:ext cx="1223231" cy="3877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4" dirty="0">
                <a:solidFill>
                  <a:schemeClr val="tx1"/>
                </a:solidFill>
              </a:rPr>
              <a:t>Attribute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D3F5E7-54B2-0181-E61D-B38DC4BB8221}"/>
              </a:ext>
            </a:extLst>
          </p:cNvPr>
          <p:cNvGrpSpPr/>
          <p:nvPr/>
        </p:nvGrpSpPr>
        <p:grpSpPr>
          <a:xfrm>
            <a:off x="101223" y="336247"/>
            <a:ext cx="1626355" cy="784585"/>
            <a:chOff x="948812" y="3540532"/>
            <a:chExt cx="2536723" cy="735547"/>
          </a:xfrm>
          <a:solidFill>
            <a:schemeClr val="bg1"/>
          </a:solidFill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4AAB9B-6AC0-1549-8511-E2157E758DB6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Entity</a:t>
              </a:r>
              <a:endParaRPr lang="fr-BE" sz="14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7657EFC-57FE-08F4-00C3-B7E8B509C87D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49051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r>
                <a:rPr lang="en-US" sz="1400" u="sng" dirty="0"/>
                <a:t>Key Attribute</a:t>
              </a:r>
              <a:endParaRPr lang="en-US" sz="1400" u="dashLong" dirty="0"/>
            </a:p>
            <a:p>
              <a:pPr marL="304782" indent="-304782">
                <a:buFontTx/>
                <a:buChar char="-"/>
              </a:pPr>
              <a:r>
                <a:rPr lang="en-US" sz="1400" dirty="0"/>
                <a:t>Attribute</a:t>
              </a:r>
            </a:p>
          </p:txBody>
        </p:sp>
      </p:grpSp>
      <p:sp>
        <p:nvSpPr>
          <p:cNvPr id="29" name="Diamond 28">
            <a:extLst>
              <a:ext uri="{FF2B5EF4-FFF2-40B4-BE49-F238E27FC236}">
                <a16:creationId xmlns:a16="http://schemas.microsoft.com/office/drawing/2014/main" id="{4F3A204A-EC4A-9DE3-11C4-471443DD5246}"/>
              </a:ext>
            </a:extLst>
          </p:cNvPr>
          <p:cNvSpPr/>
          <p:nvPr/>
        </p:nvSpPr>
        <p:spPr>
          <a:xfrm>
            <a:off x="128487" y="4629632"/>
            <a:ext cx="1571827" cy="532418"/>
          </a:xfrm>
          <a:prstGeom prst="diamond">
            <a:avLst/>
          </a:prstGeom>
          <a:solidFill>
            <a:schemeClr val="bg1"/>
          </a:solidFill>
          <a:ln w="50800" cap="flat" cmpd="dbl">
            <a:solidFill>
              <a:schemeClr val="dk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Weak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Relation</a:t>
            </a:r>
            <a:endParaRPr lang="fr-BE" sz="1400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FAACB2-6865-4F91-CE27-38E32A94661A}"/>
              </a:ext>
            </a:extLst>
          </p:cNvPr>
          <p:cNvCxnSpPr>
            <a:cxnSpLocks/>
          </p:cNvCxnSpPr>
          <p:nvPr/>
        </p:nvCxnSpPr>
        <p:spPr>
          <a:xfrm>
            <a:off x="0" y="3365677"/>
            <a:ext cx="1828800" cy="0"/>
          </a:xfrm>
          <a:prstGeom prst="straightConnector1">
            <a:avLst/>
          </a:prstGeom>
          <a:ln w="76200" cap="sq" cmpd="dbl">
            <a:solidFill>
              <a:schemeClr val="dk1"/>
            </a:solidFill>
            <a:prstDash val="solid"/>
            <a:miter lim="800000"/>
            <a:headEnd type="none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C8601DF7-0527-2EF4-BF7F-146C433A0CBD}"/>
              </a:ext>
            </a:extLst>
          </p:cNvPr>
          <p:cNvSpPr/>
          <p:nvPr/>
        </p:nvSpPr>
        <p:spPr>
          <a:xfrm>
            <a:off x="673102" y="3949781"/>
            <a:ext cx="482597" cy="387799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ISA</a:t>
            </a:r>
            <a:endParaRPr lang="fr-BE" sz="1400" dirty="0">
              <a:solidFill>
                <a:schemeClr val="tx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BDDEC8-10F9-3169-844F-C0BF869A0306}"/>
              </a:ext>
            </a:extLst>
          </p:cNvPr>
          <p:cNvGrpSpPr/>
          <p:nvPr/>
        </p:nvGrpSpPr>
        <p:grpSpPr>
          <a:xfrm>
            <a:off x="101224" y="1412884"/>
            <a:ext cx="1626355" cy="784585"/>
            <a:chOff x="948812" y="3540532"/>
            <a:chExt cx="2536723" cy="735547"/>
          </a:xfrm>
          <a:solidFill>
            <a:schemeClr val="bg1"/>
          </a:solidFill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8C0D22-D3ED-2A68-4993-E821F5EB1986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 w="50800" cmpd="dbl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Weak Entity</a:t>
              </a:r>
              <a:endParaRPr lang="fr-BE" sz="1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4845B83-E38B-9BF8-E5E9-1D78268110B9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490518"/>
            </a:xfrm>
            <a:prstGeom prst="rect">
              <a:avLst/>
            </a:prstGeom>
            <a:grpFill/>
            <a:ln w="50800" cmpd="dbl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r>
                <a:rPr lang="en-US" sz="1400" u="dashLong" dirty="0"/>
                <a:t>Weak Attribute</a:t>
              </a:r>
            </a:p>
            <a:p>
              <a:pPr marL="304782" indent="-304782">
                <a:buFontTx/>
                <a:buChar char="-"/>
              </a:pPr>
              <a:r>
                <a:rPr lang="en-US" sz="1400" dirty="0"/>
                <a:t>Attribute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405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75572-B367-FBD5-262F-FA80F9FDA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5329890-1F2E-E000-A8E2-A2A84C1238BC}"/>
              </a:ext>
            </a:extLst>
          </p:cNvPr>
          <p:cNvGrpSpPr/>
          <p:nvPr/>
        </p:nvGrpSpPr>
        <p:grpSpPr>
          <a:xfrm>
            <a:off x="2634217" y="1494546"/>
            <a:ext cx="1626355" cy="1215472"/>
            <a:chOff x="948812" y="3540532"/>
            <a:chExt cx="2536723" cy="1139503"/>
          </a:xfrm>
          <a:solidFill>
            <a:schemeClr val="bg1"/>
          </a:solidFill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E39633-9E45-6F51-EB53-50EC75605FF7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User</a:t>
              </a:r>
              <a:endParaRPr lang="fr-BE" sz="1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43AFFDF-0A30-98AC-22E8-2EBB5407814C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89447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r>
                <a:rPr lang="en-GB" sz="1400" dirty="0"/>
                <a:t>First name</a:t>
              </a:r>
            </a:p>
            <a:p>
              <a:pPr marL="304782" indent="-304782">
                <a:buFontTx/>
                <a:buChar char="-"/>
              </a:pPr>
              <a:r>
                <a:rPr lang="en-GB" sz="1400" dirty="0"/>
                <a:t>Last name</a:t>
              </a:r>
            </a:p>
            <a:p>
              <a:pPr marL="304782" indent="-304782">
                <a:buFontTx/>
                <a:buChar char="-"/>
              </a:pPr>
              <a:r>
                <a:rPr lang="en-GB" sz="1400" dirty="0"/>
                <a:t>Username</a:t>
              </a:r>
            </a:p>
            <a:p>
              <a:pPr marL="304782" indent="-304782">
                <a:buFontTx/>
                <a:buChar char="-"/>
              </a:pPr>
              <a:r>
                <a:rPr lang="en-GB" sz="1400" u="sng" dirty="0"/>
                <a:t>Email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40D8235-3F72-AEED-7EFE-B43E3F829234}"/>
              </a:ext>
            </a:extLst>
          </p:cNvPr>
          <p:cNvGrpSpPr/>
          <p:nvPr/>
        </p:nvGrpSpPr>
        <p:grpSpPr>
          <a:xfrm>
            <a:off x="7114129" y="1835526"/>
            <a:ext cx="1626355" cy="569141"/>
            <a:chOff x="948812" y="3540532"/>
            <a:chExt cx="2536723" cy="533569"/>
          </a:xfrm>
          <a:solidFill>
            <a:schemeClr val="bg1"/>
          </a:solidFill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52A56DA-03FF-EDD4-8814-067C1A5512C5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 w="50800" cmpd="dbl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Group</a:t>
              </a:r>
              <a:endParaRPr lang="fr-BE" sz="14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A9D7691-B61D-D622-B4B1-38255A20D513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288540"/>
            </a:xfrm>
            <a:prstGeom prst="rect">
              <a:avLst/>
            </a:prstGeom>
            <a:grpFill/>
            <a:ln w="50800" cmpd="dbl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endParaRPr lang="en-US" sz="14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3C832DC-25B3-560D-5D56-169E1A4B2EC6}"/>
              </a:ext>
            </a:extLst>
          </p:cNvPr>
          <p:cNvGrpSpPr/>
          <p:nvPr/>
        </p:nvGrpSpPr>
        <p:grpSpPr>
          <a:xfrm>
            <a:off x="1589750" y="4392897"/>
            <a:ext cx="1626355" cy="1430916"/>
            <a:chOff x="948812" y="3540532"/>
            <a:chExt cx="2536723" cy="1341481"/>
          </a:xfrm>
          <a:solidFill>
            <a:schemeClr val="bg1"/>
          </a:solidFill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82680B0-5D5A-CF49-5AEF-FCAAEAB8BF81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Message</a:t>
              </a:r>
              <a:endParaRPr lang="fr-BE" sz="14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2678D92-B8EC-E388-09A5-B79E46AC3CB9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109645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r>
                <a:rPr lang="en-GB" sz="1400" u="sng" dirty="0"/>
                <a:t>Id</a:t>
              </a:r>
            </a:p>
            <a:p>
              <a:pPr marL="304782" indent="-304782">
                <a:buFontTx/>
                <a:buChar char="-"/>
              </a:pPr>
              <a:r>
                <a:rPr lang="en-GB" sz="1400" dirty="0"/>
                <a:t>Likes</a:t>
              </a:r>
            </a:p>
            <a:p>
              <a:pPr marL="304782" indent="-304782">
                <a:buFontTx/>
                <a:buChar char="-"/>
              </a:pPr>
              <a:r>
                <a:rPr lang="en-GB" sz="1400" dirty="0"/>
                <a:t>Picture</a:t>
              </a:r>
            </a:p>
            <a:p>
              <a:pPr marL="304782" indent="-304782">
                <a:buFontTx/>
                <a:buChar char="-"/>
              </a:pPr>
              <a:r>
                <a:rPr lang="en-GB" sz="1400" dirty="0"/>
                <a:t>Text message</a:t>
              </a:r>
            </a:p>
            <a:p>
              <a:pPr marL="304782" indent="-304782">
                <a:buFontTx/>
                <a:buChar char="-"/>
              </a:pPr>
              <a:r>
                <a:rPr lang="en-GB" sz="1400" dirty="0"/>
                <a:t>Visibility</a:t>
              </a:r>
            </a:p>
          </p:txBody>
        </p:sp>
      </p:grpSp>
      <p:sp>
        <p:nvSpPr>
          <p:cNvPr id="34" name="Diamond 33">
            <a:extLst>
              <a:ext uri="{FF2B5EF4-FFF2-40B4-BE49-F238E27FC236}">
                <a16:creationId xmlns:a16="http://schemas.microsoft.com/office/drawing/2014/main" id="{DE1405CB-EE1E-5166-69A9-F55353FD05DC}"/>
              </a:ext>
            </a:extLst>
          </p:cNvPr>
          <p:cNvSpPr/>
          <p:nvPr/>
        </p:nvSpPr>
        <p:spPr>
          <a:xfrm>
            <a:off x="572549" y="1681069"/>
            <a:ext cx="1571827" cy="1103791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Is friends with</a:t>
            </a:r>
            <a:endParaRPr lang="fr-BE" sz="1400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2552D79-8EF2-EECB-B447-8A9EC841DEC2}"/>
              </a:ext>
            </a:extLst>
          </p:cNvPr>
          <p:cNvCxnSpPr>
            <a:cxnSpLocks/>
            <a:stCxn id="16" idx="1"/>
            <a:endCxn id="34" idx="3"/>
          </p:cNvCxnSpPr>
          <p:nvPr/>
        </p:nvCxnSpPr>
        <p:spPr>
          <a:xfrm flipH="1">
            <a:off x="2144376" y="2232965"/>
            <a:ext cx="489842" cy="0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DDD9019-DAD5-D09E-2AB9-A62AE05920FB}"/>
              </a:ext>
            </a:extLst>
          </p:cNvPr>
          <p:cNvCxnSpPr>
            <a:cxnSpLocks/>
          </p:cNvCxnSpPr>
          <p:nvPr/>
        </p:nvCxnSpPr>
        <p:spPr>
          <a:xfrm flipH="1">
            <a:off x="1358462" y="1092593"/>
            <a:ext cx="2088932" cy="0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58A01A8-0AD2-5960-D668-6D4ADB83538D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1358461" y="1092593"/>
            <a:ext cx="2" cy="588476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20E0A5E-85D6-8D26-B5E6-ED808ECA5332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3420129" y="1092593"/>
            <a:ext cx="27265" cy="401953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Diamond 53">
            <a:extLst>
              <a:ext uri="{FF2B5EF4-FFF2-40B4-BE49-F238E27FC236}">
                <a16:creationId xmlns:a16="http://schemas.microsoft.com/office/drawing/2014/main" id="{6C2DC915-2E8A-6EF9-D6D3-64D7292D2B7A}"/>
              </a:ext>
            </a:extLst>
          </p:cNvPr>
          <p:cNvSpPr/>
          <p:nvPr/>
        </p:nvSpPr>
        <p:spPr>
          <a:xfrm>
            <a:off x="4861036" y="1893629"/>
            <a:ext cx="1626354" cy="678671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Belongs to</a:t>
            </a:r>
            <a:endParaRPr lang="fr-BE" sz="1400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23D9843-1E4C-B14D-B794-E608325D30BF}"/>
              </a:ext>
            </a:extLst>
          </p:cNvPr>
          <p:cNvCxnSpPr>
            <a:cxnSpLocks/>
            <a:stCxn id="54" idx="1"/>
            <a:endCxn id="16" idx="3"/>
          </p:cNvCxnSpPr>
          <p:nvPr/>
        </p:nvCxnSpPr>
        <p:spPr>
          <a:xfrm flipH="1">
            <a:off x="4260572" y="2232965"/>
            <a:ext cx="600464" cy="0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4FFB91D-D75C-46A4-F9D9-F54313567319}"/>
              </a:ext>
            </a:extLst>
          </p:cNvPr>
          <p:cNvCxnSpPr>
            <a:cxnSpLocks/>
            <a:stCxn id="22" idx="1"/>
            <a:endCxn id="54" idx="3"/>
          </p:cNvCxnSpPr>
          <p:nvPr/>
        </p:nvCxnSpPr>
        <p:spPr>
          <a:xfrm flipH="1" flipV="1">
            <a:off x="6487390" y="2232965"/>
            <a:ext cx="626740" cy="17814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Diamond 78">
            <a:extLst>
              <a:ext uri="{FF2B5EF4-FFF2-40B4-BE49-F238E27FC236}">
                <a16:creationId xmlns:a16="http://schemas.microsoft.com/office/drawing/2014/main" id="{AF14170B-0817-A1DE-1298-E34D12F0B920}"/>
              </a:ext>
            </a:extLst>
          </p:cNvPr>
          <p:cNvSpPr/>
          <p:nvPr/>
        </p:nvSpPr>
        <p:spPr>
          <a:xfrm>
            <a:off x="907714" y="3363948"/>
            <a:ext cx="1361100" cy="55364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Posts</a:t>
            </a:r>
            <a:endParaRPr lang="fr-BE" sz="1400" dirty="0">
              <a:solidFill>
                <a:schemeClr val="tx1"/>
              </a:solidFill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298192F-33C8-3F97-2183-7E3D7911F04A}"/>
              </a:ext>
            </a:extLst>
          </p:cNvPr>
          <p:cNvCxnSpPr>
            <a:cxnSpLocks/>
            <a:stCxn id="16" idx="2"/>
            <a:endCxn id="79" idx="0"/>
          </p:cNvCxnSpPr>
          <p:nvPr/>
        </p:nvCxnSpPr>
        <p:spPr>
          <a:xfrm flipH="1">
            <a:off x="1588264" y="2710018"/>
            <a:ext cx="1859131" cy="653930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5489A82-4D56-4A16-328F-3CC182AE5218}"/>
              </a:ext>
            </a:extLst>
          </p:cNvPr>
          <p:cNvCxnSpPr>
            <a:cxnSpLocks/>
            <a:stCxn id="79" idx="2"/>
            <a:endCxn id="27" idx="0"/>
          </p:cNvCxnSpPr>
          <p:nvPr/>
        </p:nvCxnSpPr>
        <p:spPr>
          <a:xfrm>
            <a:off x="1588264" y="3917593"/>
            <a:ext cx="814663" cy="475304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C2AA6128-41FD-F4D4-9353-D3AB1BCE8B52}"/>
              </a:ext>
            </a:extLst>
          </p:cNvPr>
          <p:cNvSpPr/>
          <p:nvPr/>
        </p:nvSpPr>
        <p:spPr>
          <a:xfrm>
            <a:off x="2492884" y="3324778"/>
            <a:ext cx="1361100" cy="55364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Reacts to</a:t>
            </a:r>
            <a:endParaRPr lang="fr-BE" sz="1400" dirty="0">
              <a:solidFill>
                <a:schemeClr val="tx1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C48BCEC-6CF3-5F10-BE1B-7AF38EF265ED}"/>
              </a:ext>
            </a:extLst>
          </p:cNvPr>
          <p:cNvCxnSpPr>
            <a:cxnSpLocks/>
            <a:stCxn id="16" idx="2"/>
            <a:endCxn id="90" idx="0"/>
          </p:cNvCxnSpPr>
          <p:nvPr/>
        </p:nvCxnSpPr>
        <p:spPr>
          <a:xfrm flipH="1">
            <a:off x="3173434" y="2710018"/>
            <a:ext cx="273961" cy="614760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4A29A7E-B0CA-6A95-EB24-A20FD793B88C}"/>
              </a:ext>
            </a:extLst>
          </p:cNvPr>
          <p:cNvCxnSpPr>
            <a:cxnSpLocks/>
            <a:stCxn id="90" idx="2"/>
            <a:endCxn id="27" idx="0"/>
          </p:cNvCxnSpPr>
          <p:nvPr/>
        </p:nvCxnSpPr>
        <p:spPr>
          <a:xfrm flipH="1">
            <a:off x="2402927" y="3878423"/>
            <a:ext cx="770507" cy="514474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410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128</Words>
  <Application>Microsoft Office PowerPoint</Application>
  <PresentationFormat>Widescreen</PresentationFormat>
  <Paragraphs>63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Abdellah El Moussaoui</cp:lastModifiedBy>
  <cp:revision>327</cp:revision>
  <cp:lastPrinted>2019-10-16T17:52:17Z</cp:lastPrinted>
  <dcterms:created xsi:type="dcterms:W3CDTF">2016-09-27T13:37:05Z</dcterms:created>
  <dcterms:modified xsi:type="dcterms:W3CDTF">2025-12-03T11:29:45Z</dcterms:modified>
</cp:coreProperties>
</file>