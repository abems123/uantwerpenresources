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5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0" r:id="rId14"/>
    <p:sldId id="266" r:id="rId15"/>
    <p:sldId id="267" r:id="rId16"/>
    <p:sldId id="268" r:id="rId17"/>
    <p:sldId id="306" r:id="rId18"/>
    <p:sldId id="269" r:id="rId19"/>
    <p:sldId id="270" r:id="rId20"/>
    <p:sldId id="271" r:id="rId21"/>
    <p:sldId id="272" r:id="rId22"/>
    <p:sldId id="273" r:id="rId23"/>
    <p:sldId id="303" r:id="rId24"/>
    <p:sldId id="304" r:id="rId25"/>
    <p:sldId id="307" r:id="rId26"/>
    <p:sldId id="274" r:id="rId27"/>
    <p:sldId id="308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310" r:id="rId37"/>
    <p:sldId id="283" r:id="rId38"/>
    <p:sldId id="309" r:id="rId39"/>
    <p:sldId id="284" r:id="rId40"/>
    <p:sldId id="285" r:id="rId41"/>
    <p:sldId id="311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305" r:id="rId56"/>
    <p:sldId id="299" r:id="rId57"/>
  </p:sldIdLst>
  <p:sldSz cx="10080625" cy="7559675"/>
  <p:notesSz cx="7772400" cy="10058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D64"/>
    <a:srgbClr val="C00000"/>
    <a:srgbClr val="3A5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7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43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nl-BE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7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nl-BE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7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nl-BE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7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nl-BE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7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4EEF04A-2B34-4773-B657-25C579E7CEE9}" type="slidenum">
              <a:rPr lang="nl-BE" sz="1400" b="0" strike="noStrike" spc="-1">
                <a:latin typeface="Times New Roman"/>
              </a:rPr>
              <a:t>‹nr.›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Shape 1"/>
          <p:cNvSpPr txBox="1"/>
          <p:nvPr/>
        </p:nvSpPr>
        <p:spPr>
          <a:xfrm>
            <a:off x="4403880" y="9555120"/>
            <a:ext cx="3366720" cy="5011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F7951BEA-D08F-44EA-97A2-66646265FF83}" type="slidenum">
              <a:rPr lang="nl-BE" sz="12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1</a:t>
            </a:fld>
            <a:endParaRPr lang="nl-BE" sz="1200" b="0" strike="noStrike" spc="-1">
              <a:latin typeface="Times New Roman"/>
            </a:endParaRPr>
          </a:p>
        </p:txBody>
      </p:sp>
      <p:sp>
        <p:nvSpPr>
          <p:cNvPr id="380" name="CustomShape 2"/>
          <p:cNvSpPr/>
          <p:nvPr/>
        </p:nvSpPr>
        <p:spPr>
          <a:xfrm>
            <a:off x="4403880" y="9555120"/>
            <a:ext cx="3368160" cy="502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366B3432-54D3-464A-8B1C-53DEB7C14A5C}" type="slidenum">
              <a:rPr lang="nl-BE" sz="12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1</a:t>
            </a:fld>
            <a:endParaRPr lang="nl-BE" sz="1200" b="0" strike="noStrike" spc="-1">
              <a:latin typeface="Arial"/>
            </a:endParaRPr>
          </a:p>
        </p:txBody>
      </p:sp>
      <p:sp>
        <p:nvSpPr>
          <p:cNvPr id="381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prstGeom prst="rect">
            <a:avLst/>
          </a:prstGeom>
        </p:spPr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1036800" y="4776840"/>
            <a:ext cx="5698800" cy="4527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BE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54063"/>
            <a:ext cx="5027613" cy="3770312"/>
          </a:xfrm>
          <a:prstGeom prst="rect">
            <a:avLst/>
          </a:prstGeom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1036800" y="4776840"/>
            <a:ext cx="5697000" cy="4524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nl-BE" sz="2000" b="0" strike="noStrike" spc="-1">
                <a:latin typeface="Times New Roman"/>
                <a:ea typeface="ＭＳ Ｐゴシック"/>
              </a:rPr>
              <a:t>std::round (Since c++11) instead of own roundToInt function? 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385" name="TextShape 3"/>
          <p:cNvSpPr txBox="1"/>
          <p:nvPr/>
        </p:nvSpPr>
        <p:spPr>
          <a:xfrm>
            <a:off x="4403880" y="9555120"/>
            <a:ext cx="3366720" cy="5011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99273E55-46AC-426B-BDC6-A8A70E0285B2}" type="slidenum">
              <a:rPr lang="nl-BE" sz="12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47</a:t>
            </a:fld>
            <a:endParaRPr lang="nl-BE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/>
          <p:nvPr/>
        </p:nvPicPr>
        <p:blipFill>
          <a:blip r:embed="rId14"/>
          <a:stretch/>
        </p:blipFill>
        <p:spPr>
          <a:xfrm>
            <a:off x="912960" y="6929280"/>
            <a:ext cx="9165960" cy="63000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54200" y="76320"/>
            <a:ext cx="7729200" cy="1174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4300" b="0" strike="noStrike" spc="-1">
                <a:solidFill>
                  <a:srgbClr val="003D62"/>
                </a:solidFill>
                <a:latin typeface="Verdana"/>
                <a:ea typeface="ＭＳ Ｐゴシック"/>
              </a:rPr>
              <a:t>Click to edit Master title style</a:t>
            </a:r>
            <a:endParaRPr lang="en-GB" sz="4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strike="noStrike" spc="-1">
                <a:solidFill>
                  <a:srgbClr val="003D62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700" b="0" strike="noStrike" spc="-1">
                <a:solidFill>
                  <a:srgbClr val="003D62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40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41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text styles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Second level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Third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Fourth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Fifth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4319640" y="7199280"/>
            <a:ext cx="52210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43FE61E-B56D-4D01-9CE9-E1D8B471DC4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‹nr.›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84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85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97040" y="4857840"/>
            <a:ext cx="8567280" cy="150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lang="en-GB" sz="4000" b="1" strike="noStrike" cap="all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97040" y="3203640"/>
            <a:ext cx="8567280" cy="1653840"/>
          </a:xfrm>
          <a:prstGeom prst="rect">
            <a:avLst/>
          </a:prstGeom>
        </p:spPr>
        <p:txBody>
          <a:bodyPr lIns="0" tIns="57600" rIns="0" bIns="0" anchor="b">
            <a:noAutofit/>
          </a:bodyPr>
          <a:lstStyle/>
          <a:p>
            <a:pPr>
              <a:lnSpc>
                <a:spcPct val="81000"/>
              </a:lnSpc>
              <a:spcAft>
                <a:spcPts val="1412"/>
              </a:spcAft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text styles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/>
          </p:nvPr>
        </p:nvSpPr>
        <p:spPr>
          <a:xfrm>
            <a:off x="4319640" y="7199280"/>
            <a:ext cx="49924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E182100-D94E-41CB-B0FB-185EBCD0960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‹nr.›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128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129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ftr"/>
          </p:nvPr>
        </p:nvSpPr>
        <p:spPr>
          <a:xfrm>
            <a:off x="4319640" y="7199280"/>
            <a:ext cx="49924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00051AF-612B-4315-B336-70851CC0C8F6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‹nr.›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en.cppreference.com/w/" TargetMode="External"/><Relationship Id="rId2" Type="http://schemas.openxmlformats.org/officeDocument/2006/relationships/hyperlink" Target="https://github.com/gibsjose/cpp-cheat-sheet/blob/master/Data%20Structures%20and%20Algorithms.md" TargetMode="Externa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github.io/styleguide/cppguide.html" TargetMode="Externa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682560" y="1422360"/>
            <a:ext cx="8677080" cy="499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600" b="1" strike="noStrike" spc="-1">
                <a:solidFill>
                  <a:srgbClr val="003D62"/>
                </a:solidFill>
                <a:latin typeface="Verdana"/>
                <a:ea typeface="ＭＳ Ｐゴシック"/>
              </a:rPr>
              <a:t>Computer Graphics  - Inleiding</a:t>
            </a:r>
            <a:endParaRPr lang="en-GB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682560" y="1922400"/>
            <a:ext cx="867708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nl-BE" sz="2000" b="0" strike="noStrike" spc="-1" dirty="0">
                <a:solidFill>
                  <a:srgbClr val="7E002F"/>
                </a:solidFill>
                <a:latin typeface="Verdana"/>
                <a:ea typeface="ＭＳ Ｐゴシック"/>
              </a:rPr>
              <a:t>Jakob Struye</a:t>
            </a: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nl-BE" sz="2000" spc="-1" dirty="0">
                <a:solidFill>
                  <a:srgbClr val="7E002F"/>
                </a:solidFill>
                <a:latin typeface="Verdana"/>
                <a:ea typeface="ＭＳ Ｐゴシック"/>
              </a:rPr>
              <a:t>Tim </a:t>
            </a:r>
            <a:r>
              <a:rPr lang="nl-BE" sz="2000" spc="-1" dirty="0" err="1">
                <a:solidFill>
                  <a:srgbClr val="7E002F"/>
                </a:solidFill>
                <a:latin typeface="Verdana"/>
                <a:ea typeface="ＭＳ Ｐゴシック"/>
              </a:rPr>
              <a:t>Apers</a:t>
            </a:r>
            <a:endParaRPr lang="nl-BE" sz="2000" spc="-1" dirty="0">
              <a:solidFill>
                <a:srgbClr val="7E002F"/>
              </a:solidFill>
              <a:latin typeface="Verdana"/>
              <a:ea typeface="ＭＳ Ｐゴシック"/>
            </a:endParaRPr>
          </a:p>
        </p:txBody>
      </p:sp>
      <p:pic>
        <p:nvPicPr>
          <p:cNvPr id="179" name="Picture 5"/>
          <p:cNvPicPr/>
          <p:nvPr/>
        </p:nvPicPr>
        <p:blipFill>
          <a:blip r:embed="rId3"/>
          <a:stretch/>
        </p:blipFill>
        <p:spPr>
          <a:xfrm>
            <a:off x="111240" y="136440"/>
            <a:ext cx="1337760" cy="1079280"/>
          </a:xfrm>
          <a:prstGeom prst="rect">
            <a:avLst/>
          </a:prstGeom>
          <a:ln>
            <a:noFill/>
          </a:ln>
        </p:spPr>
      </p:pic>
      <p:pic>
        <p:nvPicPr>
          <p:cNvPr id="180" name="Picture 5" descr="0_intro.bmp"/>
          <p:cNvPicPr/>
          <p:nvPr/>
        </p:nvPicPr>
        <p:blipFill>
          <a:blip r:embed="rId4"/>
          <a:stretch/>
        </p:blipFill>
        <p:spPr>
          <a:xfrm>
            <a:off x="3397320" y="2637000"/>
            <a:ext cx="3571560" cy="4214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Overzicht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Praktische informatie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Vereisten voor de Grafische Engine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Tips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83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84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4B12AAB-D832-4032-A704-040A29F918D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C978DB9-976F-40EA-859D-F51C52C5E2A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187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Praktische Informatie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Contactgegevens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504720" y="2140576"/>
            <a:ext cx="9034200" cy="3892755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Jakob Struye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3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jakob.struye@uantwerpen.be</a:t>
            </a: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3200" b="1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Tim Apers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3000" spc="-1" dirty="0">
                <a:solidFill>
                  <a:srgbClr val="003D64"/>
                </a:solidFill>
                <a:latin typeface="FreeSans"/>
                <a:ea typeface="WenQuanYi Zen Hei"/>
              </a:rPr>
              <a:t>tim</a:t>
            </a:r>
            <a:r>
              <a:rPr lang="en-GB" sz="3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.apers@uantwerpen.be</a:t>
            </a: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3000" spc="-1" dirty="0">
              <a:solidFill>
                <a:srgbClr val="003D64"/>
              </a:solidFill>
              <a:latin typeface="FreeSans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 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Vraag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? Mail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ons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allebei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!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  <a:p>
            <a:pPr marL="457200">
              <a:lnSpc>
                <a:spcPct val="81000"/>
              </a:lnSpc>
              <a:spcAft>
                <a:spcPts val="1137"/>
              </a:spcAft>
            </a:pPr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CB44C98-D60D-4CE4-BB1B-A428EAD5A2F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Contacturen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Twee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praktijksessies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per week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groep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Iedereen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welkom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tijdens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beide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sessies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nl-BE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Plaatsgebrek? </a:t>
            </a:r>
            <a:r>
              <a:rPr lang="nl-BE" sz="2000" b="0" strike="noStrike" spc="-1" dirty="0">
                <a:solidFill>
                  <a:srgbClr val="003D64"/>
                </a:solidFill>
                <a:latin typeface="FreeSans"/>
                <a:ea typeface="WenQuanYi Zen Hei"/>
                <a:sym typeface="Wingdings" panose="05000000000000000000" pitchFamily="2" charset="2"/>
              </a:rPr>
              <a:t> voorrang voor wie voor de sessie ingeschreven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Tijdens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sessies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Uiteenzetting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Mogelijkheid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stellen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Aanwezigheid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langskomen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uitleg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vraag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ok)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Neem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cursus mee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practica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Lees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relevante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hoofdstukken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cursus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na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practicu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m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</a:p>
          <a:p>
            <a:pPr marL="457560" lvl="1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</a:p>
        </p:txBody>
      </p:sp>
      <p:sp>
        <p:nvSpPr>
          <p:cNvPr id="19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ADCD5E7-9855-4C36-946E-BBF19C15180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Doel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Ontwikkelen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renderen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afbeeldingen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bestaande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telkens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nieuwe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functionaliteit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uitgebreid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Oude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blijven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controleer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regelmatig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!)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Uiteindelijke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inzending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die alle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ondersteunt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invoerbestand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bepaalt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welk 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type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afbeelding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gemaakt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DB6193D-DA5E-4E1E-9E2B-FFCEB394F4D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6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Puntenverdeling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Shape 2"/>
          <p:cNvSpPr txBox="1"/>
          <p:nvPr/>
        </p:nvSpPr>
        <p:spPr>
          <a:xfrm>
            <a:off x="503280" y="1260360"/>
            <a:ext cx="9034200" cy="53766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Praktijk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(10-12/20)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2D L-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Systemen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(1,25)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Lijntekeningen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Lichamen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Z-Buffering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Z-Buffering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driehoeken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Fractalen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Clipping (0,5)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Schaduw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Texture mapping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Lijntekeningen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bollen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&amp;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cilinders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(0,75)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0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0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AAAFAA8-2EC2-4D25-B35A-E8D8C22AC8FF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7</a:t>
            </a:fld>
            <a:endParaRPr lang="nl-BE" sz="1400" b="0" strike="noStrike" spc="-1">
              <a:latin typeface="Times New Roman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9622C6-C337-427D-B42B-15587C7491B6}"/>
              </a:ext>
            </a:extLst>
          </p:cNvPr>
          <p:cNvCxnSpPr/>
          <p:nvPr/>
        </p:nvCxnSpPr>
        <p:spPr>
          <a:xfrm>
            <a:off x="717847" y="3779837"/>
            <a:ext cx="4905286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CDFA26-5A8F-4A66-A06E-EDDE1C241CB8}"/>
              </a:ext>
            </a:extLst>
          </p:cNvPr>
          <p:cNvSpPr txBox="1"/>
          <p:nvPr/>
        </p:nvSpPr>
        <p:spPr>
          <a:xfrm>
            <a:off x="5623133" y="3549004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>
                <a:solidFill>
                  <a:srgbClr val="C00000"/>
                </a:solidFill>
              </a:rPr>
              <a:t>Opdrachten tot hier (goed) geïmplementeerd</a:t>
            </a:r>
          </a:p>
          <a:p>
            <a:r>
              <a:rPr lang="nl-BE" sz="1200" dirty="0">
                <a:solidFill>
                  <a:srgbClr val="C00000"/>
                </a:solidFill>
              </a:rPr>
              <a:t>volstaat voor slaagcijfer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Opgaven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Ongeveer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één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per week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Elke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Eén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meerdere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deelopdrachten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Meestal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kleine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verdienen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punten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aangegeven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per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deelopdracht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Aantal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hoe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belangrijk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deelopdracht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noodzakelijk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hoe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uitdagend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het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828800">
              <a:lnSpc>
                <a:spcPct val="81000"/>
              </a:lnSpc>
              <a:spcAft>
                <a:spcPts val="289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Eventuele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oefeningen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jezelf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ingediend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Worden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gequoteerd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0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134C37D-502F-489A-ABE6-96A3601064D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8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Feedback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Shape 2"/>
          <p:cNvSpPr txBox="1"/>
          <p:nvPr/>
        </p:nvSpPr>
        <p:spPr>
          <a:xfrm>
            <a:off x="503280" y="1260360"/>
            <a:ext cx="9034200" cy="58050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Proefevaluatie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Uploadzone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op blackboard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Deadline: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kalender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Zelfde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systeem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vereisten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finale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inzending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evalueren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engine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laten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problemen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Deelname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proefevaluaties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…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… maar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ten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sterkste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aangeraden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</a:p>
          <a:p>
            <a:pPr marL="800460" lvl="1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“on demand” evaluaties na de deadline</a:t>
            </a:r>
            <a:endParaRPr lang="en-GB" sz="2200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Verdere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/of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problemen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Praktijksessies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E-mail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371960"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</a:rPr>
              <a:t> </a:t>
            </a:r>
          </a:p>
        </p:txBody>
      </p:sp>
      <p:sp>
        <p:nvSpPr>
          <p:cNvPr id="21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1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F9203C15-CFA8-4DB5-8E44-3FB7EFC90EC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2205050" y="1079136"/>
            <a:ext cx="6209572" cy="6737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1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Planning</a:t>
            </a:r>
            <a:endParaRPr lang="en-GB" sz="2100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3" name="Table 2"/>
          <p:cNvGraphicFramePr/>
          <p:nvPr>
            <p:extLst>
              <p:ext uri="{D42A27DB-BD31-4B8C-83A1-F6EECF244321}">
                <p14:modId xmlns:p14="http://schemas.microsoft.com/office/powerpoint/2010/main" val="2700456276"/>
              </p:ext>
            </p:extLst>
          </p:nvPr>
        </p:nvGraphicFramePr>
        <p:xfrm>
          <a:off x="1918920" y="1679190"/>
          <a:ext cx="6242785" cy="4139317"/>
        </p:xfrm>
        <a:graphic>
          <a:graphicData uri="http://schemas.openxmlformats.org/drawingml/2006/table">
            <a:tbl>
              <a:tblPr/>
              <a:tblGrid>
                <a:gridCol w="58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7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Week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Datum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Opgave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Deadline Proefevaluatie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10/02 – 14/02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Inleiding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 – 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17/02 – 21/02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2D L-Systemen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 – 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24/02 – 28/02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4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03/03 – 07/03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Lijntekeningen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2D L-Systemen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5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10/03 – 14/03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Lichamen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6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17/03 – 21/03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lijnen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Lijntekeningen 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7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24/03 – 28/03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driehoeken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Lichamen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8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31/03 – 04/04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Fractalen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lijnen</a:t>
                      </a: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-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07/04 – 18/04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 (Paasvakantie)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driehoeken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9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21/04 – 25/04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Belichting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Fractalen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10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28/04 – 02/05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Schaduw &amp; Texture Mapping 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Belichting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11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05/05 – 09/05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Bollen &amp; Cilinders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Schaduw &amp; Texture Mapping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12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12/05 – 16/05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Bollen &amp; Cilinders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13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19/05 – 23/05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465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Finale Deadline: zondag 25/05/2025 om 23.59u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14" name="TextShape 3"/>
          <p:cNvSpPr txBox="1"/>
          <p:nvPr/>
        </p:nvSpPr>
        <p:spPr>
          <a:xfrm>
            <a:off x="4499751" y="6344689"/>
            <a:ext cx="3916221" cy="268948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050" i="1" spc="-1" dirty="0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050" spc="-1" dirty="0">
              <a:latin typeface="Times New Roman"/>
            </a:endParaRPr>
          </a:p>
        </p:txBody>
      </p:sp>
      <p:sp>
        <p:nvSpPr>
          <p:cNvPr id="215" name="TextShape 4"/>
          <p:cNvSpPr txBox="1"/>
          <p:nvPr/>
        </p:nvSpPr>
        <p:spPr>
          <a:xfrm>
            <a:off x="8550717" y="6344689"/>
            <a:ext cx="801174" cy="268948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5067C1A-747D-4C23-8DF1-07CBD327F7B0}" type="slidenum">
              <a:rPr lang="nl-BE" sz="1050" spc="-1">
                <a:solidFill>
                  <a:srgbClr val="FFFFFF"/>
                </a:solidFill>
                <a:latin typeface="FreeSans"/>
                <a:ea typeface="ＭＳ Ｐゴシック"/>
              </a:rPr>
              <a:t>10</a:t>
            </a:fld>
            <a:endParaRPr lang="nl-BE" sz="1050" spc="-1"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43E01-FF70-4460-8CE7-8BFC009D6C09}"/>
              </a:ext>
            </a:extLst>
          </p:cNvPr>
          <p:cNvSpPr txBox="1"/>
          <p:nvPr/>
        </p:nvSpPr>
        <p:spPr>
          <a:xfrm>
            <a:off x="2298819" y="6141562"/>
            <a:ext cx="39162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Deadlines proefevaluatie zijn altijd de zondagavond om 23u59.</a:t>
            </a:r>
            <a:br>
              <a:rPr lang="nl-BE" sz="1000" dirty="0"/>
            </a:br>
            <a:r>
              <a:rPr lang="nl-BE" sz="1000" dirty="0"/>
              <a:t>Er is dus altijd minstens een volledige week (incl. twee weekends) tussen het practicum en de bijbehorende deadline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Planning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Shape 2"/>
          <p:cNvSpPr txBox="1"/>
          <p:nvPr/>
        </p:nvSpPr>
        <p:spPr>
          <a:xfrm>
            <a:off x="504720" y="3132000"/>
            <a:ext cx="9034200" cy="1437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Plan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wanneer</a:t>
            </a: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je wat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doet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Hou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rekening</a:t>
            </a: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deadlines van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andere</a:t>
            </a: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vakken</a:t>
            </a:r>
            <a:endParaRPr lang="en-GB" sz="28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Onderschat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8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8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1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1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B1FDE62-7953-4AAF-B407-133E5A16E3F0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11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D9BC65F-0098-4FC8-8D6F-57CD4D10D02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12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22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Vereisten voor de </a:t>
            </a:r>
            <a:br/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Grafische Engine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Algemene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vereisten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(informatica)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503280" y="1260360"/>
            <a:ext cx="921672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Programmeertaal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 C++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Ontwikkelomgeving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volledig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kiezen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CLion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Makefiles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Eclipse, Visual Studio, …</a:t>
            </a: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800460" lvl="1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Enkele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bestanden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met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essenti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ële functionaliteit al beschikbaar op 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Op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eind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het semester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engine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Linux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CMake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Ubuntu 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24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.04 LTS 64-bit,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gcc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13,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Cmake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3.28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Labo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PC’s</a:t>
            </a: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endParaRPr lang="en-GB" sz="2000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685800" lvl="1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standaard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C++17, de default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gcc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11. Wie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wil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andere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versie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omwille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compatibiliteitsproblemen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om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recente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features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eerst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iets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.</a:t>
            </a:r>
          </a:p>
        </p:txBody>
      </p:sp>
      <p:sp>
        <p:nvSpPr>
          <p:cNvPr id="22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2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0F41369-F32B-41AD-9540-7D160FF0BA1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Algemene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vereisten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wiskunde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503280" y="1260360"/>
            <a:ext cx="921672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Programmeertaal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 </a:t>
            </a:r>
            <a:r>
              <a:rPr lang="en-GB" sz="24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Python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Ontwikkelomgeving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volledig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kiezen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PyCharm, Spyder, Visual Studio, text editor, …</a:t>
            </a: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800460" lvl="1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Enkele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bestanden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met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essenti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ële functionaliteit al beschikbaar op 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BlackBoard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(in de {naam}_python archieven!)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Op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eind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het semester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engine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Linux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Ubuntu 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24.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04 LTS 64-bit, </a:t>
            </a: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Python 3.12, 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Labo PC’s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We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verwachten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Python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compatibiliteitsproblemen</a:t>
            </a: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endParaRPr lang="en-GB" sz="2000" spc="-1" dirty="0">
              <a:solidFill>
                <a:srgbClr val="003D64"/>
              </a:solidFill>
              <a:latin typeface="FreeSans"/>
              <a:ea typeface="WenQuanYi Zen Hei"/>
            </a:endParaRPr>
          </a:p>
        </p:txBody>
      </p:sp>
      <p:sp>
        <p:nvSpPr>
          <p:cNvPr id="22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2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0F41369-F32B-41AD-9540-7D160FF0BA1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14</a:t>
            </a:fld>
            <a:endParaRPr lang="nl-BE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6216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finale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evaluatie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er 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elke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tussen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200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300 images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gegenereerd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Je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mag: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2 GB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&lt; 750 MB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30 min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per image (op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labo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pc’s)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&lt; 1,5 mins</a:t>
            </a: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endParaRPr lang="en-GB" sz="2000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36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</a:pPr>
            <a:r>
              <a:rPr lang="en-GB" sz="1600" spc="-1" dirty="0">
                <a:solidFill>
                  <a:srgbClr val="003D64"/>
                </a:solidFill>
                <a:latin typeface="FreeSans"/>
              </a:rPr>
              <a:t>(de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vereisten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runtime/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geheugengebruik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Python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zijn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nog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1600" spc="-1" dirty="0" err="1">
                <a:solidFill>
                  <a:srgbClr val="003D64"/>
                </a:solidFill>
                <a:latin typeface="FreeSans"/>
              </a:rPr>
              <a:t>bepalen</a:t>
            </a:r>
            <a:r>
              <a:rPr lang="en-GB" sz="1600" spc="-1" dirty="0">
                <a:solidFill>
                  <a:srgbClr val="003D64"/>
                </a:solidFill>
                <a:latin typeface="FreeSans"/>
              </a:rPr>
              <a:t>)</a:t>
            </a:r>
            <a:endParaRPr lang="en-GB" sz="16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29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0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68EF6D16-9178-41C3-B0B7-033AF7B3861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i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individueel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gemaakt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Overleggen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mag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Code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kopiëren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online) is </a:t>
            </a:r>
            <a:r>
              <a:rPr lang="en-GB" sz="22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ten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strengste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verboden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toestemming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br>
              <a:rPr dirty="0"/>
            </a:b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libraries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Alles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wat je 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hebt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voorzien</a:t>
            </a: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voorziene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Pythoncode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Numpy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PIL libraries.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uiteraard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toegestaan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.</a:t>
            </a: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4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9066984-3AF5-4C29-BBAC-9DE13CAD39DF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16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werking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2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7" name="TextShape 3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02CD6EE-7D78-4110-8EEF-94BF9F5E586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17</a:t>
            </a:fld>
            <a:endParaRPr lang="nl-BE" sz="1400" b="0" strike="noStrike" spc="-1">
              <a:latin typeface="Times New Roman"/>
            </a:endParaRPr>
          </a:p>
        </p:txBody>
      </p:sp>
      <p:grpSp>
        <p:nvGrpSpPr>
          <p:cNvPr id="238" name="Group 4"/>
          <p:cNvGrpSpPr/>
          <p:nvPr/>
        </p:nvGrpSpPr>
        <p:grpSpPr>
          <a:xfrm>
            <a:off x="503280" y="1258920"/>
            <a:ext cx="9073800" cy="5270400"/>
            <a:chOff x="503280" y="1258920"/>
            <a:chExt cx="9073800" cy="5270400"/>
          </a:xfrm>
        </p:grpSpPr>
        <p:pic>
          <p:nvPicPr>
            <p:cNvPr id="239" name="Picture 4" descr="ini-icon.png"/>
            <p:cNvPicPr/>
            <p:nvPr/>
          </p:nvPicPr>
          <p:blipFill>
            <a:blip r:embed="rId2"/>
            <a:stretch/>
          </p:blipFill>
          <p:spPr>
            <a:xfrm>
              <a:off x="1799640" y="3275640"/>
              <a:ext cx="1732680" cy="1627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0" name="Picture 5" descr="bmp-icon.png"/>
            <p:cNvPicPr/>
            <p:nvPr/>
          </p:nvPicPr>
          <p:blipFill>
            <a:blip r:embed="rId3"/>
            <a:stretch/>
          </p:blipFill>
          <p:spPr>
            <a:xfrm>
              <a:off x="6552720" y="3275640"/>
              <a:ext cx="1731240" cy="16254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1" name="CustomShape 5"/>
            <p:cNvSpPr/>
            <p:nvPr/>
          </p:nvSpPr>
          <p:spPr>
            <a:xfrm>
              <a:off x="3600360" y="3708360"/>
              <a:ext cx="2952360" cy="93456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242" name="Picture 7" descr="gears.png"/>
            <p:cNvPicPr/>
            <p:nvPr/>
          </p:nvPicPr>
          <p:blipFill>
            <a:blip r:embed="rId4"/>
            <a:stretch/>
          </p:blipFill>
          <p:spPr>
            <a:xfrm>
              <a:off x="4237920" y="4572000"/>
              <a:ext cx="1610280" cy="1512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3" name="CustomShape 6"/>
            <p:cNvSpPr/>
            <p:nvPr/>
          </p:nvSpPr>
          <p:spPr>
            <a:xfrm>
              <a:off x="503280" y="1258920"/>
              <a:ext cx="4320720" cy="175287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nl-BE" sz="28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INI bestand</a:t>
              </a:r>
              <a:endParaRPr lang="nl-BE" sz="2800" b="0" strike="noStrike" spc="-1" dirty="0">
                <a:latin typeface="Arial"/>
              </a:endParaRPr>
            </a:p>
            <a:p>
              <a:pPr marL="343080" indent="-34272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Beschrijft het type van de te renderen afbeelding, en de precieze inhoud ervan</a:t>
              </a:r>
            </a:p>
            <a:p>
              <a:pPr marL="343080" indent="-34272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Door ons voorzien</a:t>
              </a:r>
              <a:endParaRPr lang="nl-BE" sz="2000" b="0" strike="noStrike" spc="-1" dirty="0">
                <a:latin typeface="Arial"/>
              </a:endParaRPr>
            </a:p>
          </p:txBody>
        </p:sp>
        <p:sp>
          <p:nvSpPr>
            <p:cNvPr id="244" name="CustomShape 7"/>
            <p:cNvSpPr/>
            <p:nvPr/>
          </p:nvSpPr>
          <p:spPr>
            <a:xfrm>
              <a:off x="5256360" y="1258920"/>
              <a:ext cx="4320720" cy="17366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nl-BE" sz="28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BMP afbeelding</a:t>
              </a:r>
              <a:endParaRPr lang="nl-BE" sz="28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Bevat de gerenderde afbeelding</a:t>
              </a:r>
              <a:endParaRPr lang="nl-BE" sz="20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Exact 1 per INI bestand</a:t>
              </a:r>
              <a:endParaRPr lang="nl-BE" sz="20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Heeft dezelfde naam als het invoerbestand (op extensie na)</a:t>
              </a:r>
              <a:endParaRPr lang="nl-BE" sz="2000" b="0" strike="noStrike" spc="-1" dirty="0">
                <a:latin typeface="Arial"/>
              </a:endParaRPr>
            </a:p>
          </p:txBody>
        </p:sp>
        <p:sp>
          <p:nvSpPr>
            <p:cNvPr id="245" name="CustomShape 8"/>
            <p:cNvSpPr/>
            <p:nvPr/>
          </p:nvSpPr>
          <p:spPr>
            <a:xfrm>
              <a:off x="4398480" y="6012360"/>
              <a:ext cx="1289160" cy="516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BE" sz="28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Engine</a:t>
              </a:r>
              <a:endParaRPr lang="nl-BE" sz="2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Input en Output formaat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Shape 2"/>
          <p:cNvSpPr txBox="1"/>
          <p:nvPr/>
        </p:nvSpPr>
        <p:spPr>
          <a:xfrm>
            <a:off x="503280" y="12603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Input: INI-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configuratiebestand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Beschikbaar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E</a:t>
            </a:r>
            <a:r>
              <a:rPr lang="nl-BE" sz="2200" spc="-1" dirty="0">
                <a:solidFill>
                  <a:srgbClr val="003D64"/>
                </a:solidFill>
                <a:latin typeface="FreeSans"/>
                <a:ea typeface="WenQuanYi Zen Hei"/>
              </a:rPr>
              <a:t>én ini-bestand per te genereren image</a:t>
            </a: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nl-BE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Bijbehorend telkens een png-bestand met verwachte uitkomst</a:t>
            </a: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nl-BE" sz="2200" spc="-1" dirty="0">
                <a:solidFill>
                  <a:srgbClr val="003D64"/>
                </a:solidFill>
                <a:latin typeface="FreeSans"/>
                <a:ea typeface="WenQuanYi Zen Hei"/>
              </a:rPr>
              <a:t>Je resultaat hoeft niet pixel-perfect overeen te komen met het voorbeeld (contacteer ons bij twijfel!)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Bestandsformaat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gespecifieerd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Indien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vermeld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formaat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kiezen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configuratiebestanden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configuratiebestand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 ==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Output: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wegschrijven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naar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BMP-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4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55748F85-C7EB-4315-8B0B-487AFA9A5CE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18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Aanspreken van de Engine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Interface: engine.cc/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py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(</a:t>
            </a:r>
            <a:r>
              <a:rPr lang="en-GB" sz="240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beschikbaar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op </a:t>
            </a:r>
            <a:r>
              <a:rPr lang="en-GB" sz="240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BlackBoard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</a:t>
            </a:r>
            <a:endParaRPr lang="en-GB" sz="240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Implementeert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indent="-228240">
              <a:lnSpc>
                <a:spcPct val="81000"/>
              </a:lnSpc>
              <a:spcAft>
                <a:spcPts val="850"/>
              </a:spcAft>
            </a:pP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main(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argc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,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char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*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argv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[]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</a:p>
          <a:p>
            <a:pPr marL="1143000" indent="-228240">
              <a:lnSpc>
                <a:spcPct val="81000"/>
              </a:lnSpc>
              <a:spcAft>
                <a:spcPts val="850"/>
              </a:spcAft>
            </a:pPr>
            <a:r>
              <a:rPr lang="en-GB" sz="2200" b="1" spc="-1" dirty="0">
                <a:solidFill>
                  <a:srgbClr val="7F0055"/>
                </a:solidFill>
                <a:latin typeface="Courier New"/>
                <a:ea typeface="ＭＳ Ｐゴシック"/>
              </a:rPr>
              <a:t>if</a:t>
            </a:r>
            <a:r>
              <a:rPr lang="en-GB" sz="2200" b="1" spc="-1" dirty="0">
                <a:latin typeface="Courier New"/>
                <a:ea typeface="ＭＳ Ｐゴシック"/>
              </a:rPr>
              <a:t> __name__</a:t>
            </a:r>
            <a:r>
              <a:rPr lang="en-GB" sz="2200" b="1" spc="-1" dirty="0">
                <a:solidFill>
                  <a:srgbClr val="7F0055"/>
                </a:solidFill>
                <a:latin typeface="Courier New"/>
                <a:ea typeface="ＭＳ Ｐゴシック"/>
              </a:rPr>
              <a:t> </a:t>
            </a:r>
            <a:r>
              <a:rPr lang="en-GB" sz="2200" b="1" spc="-1" dirty="0">
                <a:latin typeface="Courier New"/>
                <a:ea typeface="ＭＳ Ｐゴシック"/>
              </a:rPr>
              <a:t>== “</a:t>
            </a:r>
            <a:r>
              <a:rPr lang="en-GB" sz="2200" spc="-1" dirty="0">
                <a:latin typeface="Courier New"/>
                <a:ea typeface="ＭＳ Ｐゴシック"/>
              </a:rPr>
              <a:t>__main__</a:t>
            </a:r>
            <a:r>
              <a:rPr lang="en-GB" sz="2200" b="1" spc="-1" dirty="0">
                <a:latin typeface="Courier New"/>
                <a:ea typeface="ＭＳ Ｐゴシック"/>
              </a:rPr>
              <a:t>”</a:t>
            </a:r>
            <a:r>
              <a:rPr lang="en-GB" sz="2200" b="1" spc="-1" dirty="0">
                <a:solidFill>
                  <a:srgbClr val="000000"/>
                </a:solidFill>
                <a:latin typeface="Courier New"/>
                <a:ea typeface="ＭＳ Ｐゴシック"/>
              </a:rPr>
              <a:t>:</a:t>
            </a:r>
            <a:endParaRPr lang="en-GB" sz="2200" b="1" spc="-1" dirty="0">
              <a:solidFill>
                <a:srgbClr val="003D64"/>
              </a:solidFill>
              <a:latin typeface="FreeSans"/>
            </a:endParaRPr>
          </a:p>
          <a:p>
            <a:pPr marL="1143000" indent="-228240">
              <a:lnSpc>
                <a:spcPct val="81000"/>
              </a:lnSpc>
              <a:spcAft>
                <a:spcPts val="850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Zorgt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inlezen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INI-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wegschrijven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BMP-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Laat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toe om </a:t>
            </a:r>
            <a:r>
              <a:rPr lang="en-GB" sz="2200" b="1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op exact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dezelfde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manier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Pas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enkel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  </a:t>
            </a:r>
            <a:r>
              <a:rPr lang="en-GB" sz="22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generate_img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aan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 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builden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via command line (C++)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503280" y="1260360"/>
            <a:ext cx="9034200" cy="621503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6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Tip: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maak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“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buildmap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”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alle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gegenereerde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files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zodat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die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makkelijk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kuisen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zijn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(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bv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.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anneer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gaat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insturen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).</a:t>
            </a: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20</a:t>
            </a:fld>
            <a:endParaRPr lang="nl-BE" sz="1400" b="0" strike="noStrike" spc="-1">
              <a:latin typeface="Times New Roman"/>
            </a:endParaRP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C49F0EA3-6AA4-4712-A36C-3388E55DE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40" y="3364696"/>
            <a:ext cx="1268709" cy="830282"/>
          </a:xfrm>
          <a:prstGeom prst="rect">
            <a:avLst/>
          </a:prstGeom>
        </p:spPr>
      </p:pic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75E4CE71-A1B5-487F-A97A-FFFFC5C37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23" y="1914089"/>
            <a:ext cx="1268709" cy="830282"/>
          </a:xfrm>
          <a:prstGeom prst="rect">
            <a:avLst/>
          </a:prstGeom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A684FD2C-669A-4306-B115-DEC56893C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22" y="2927251"/>
            <a:ext cx="1268709" cy="830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A05AD-E8E8-4FF8-ABA7-B49ECE4D1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10" y="4058188"/>
            <a:ext cx="711329" cy="9612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BCB8B4-A481-49D1-94A3-8A24102A2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09" y="5202324"/>
            <a:ext cx="711329" cy="9612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304276-0513-4FFC-92CA-8BFCC3074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95" y="1914089"/>
            <a:ext cx="711329" cy="961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705B05-D93D-4D7F-BA81-27EDA22B86E9}"/>
              </a:ext>
            </a:extLst>
          </p:cNvPr>
          <p:cNvSpPr txBox="1"/>
          <p:nvPr/>
        </p:nvSpPr>
        <p:spPr>
          <a:xfrm>
            <a:off x="4439269" y="3699798"/>
            <a:ext cx="10294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CG_engine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A446B-5F8F-4649-93F5-3A3911786DEC}"/>
              </a:ext>
            </a:extLst>
          </p:cNvPr>
          <p:cNvSpPr txBox="1"/>
          <p:nvPr/>
        </p:nvSpPr>
        <p:spPr>
          <a:xfrm>
            <a:off x="6661509" y="2248523"/>
            <a:ext cx="5373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build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FECE6A-2F04-4083-A26D-30AC10B6E6BA}"/>
              </a:ext>
            </a:extLst>
          </p:cNvPr>
          <p:cNvSpPr txBox="1"/>
          <p:nvPr/>
        </p:nvSpPr>
        <p:spPr>
          <a:xfrm>
            <a:off x="6754483" y="328220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ini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FB220-E197-4248-8BFA-756D1350085B}"/>
              </a:ext>
            </a:extLst>
          </p:cNvPr>
          <p:cNvSpPr txBox="1"/>
          <p:nvPr/>
        </p:nvSpPr>
        <p:spPr>
          <a:xfrm>
            <a:off x="6560695" y="4322890"/>
            <a:ext cx="75052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CMake</a:t>
            </a:r>
            <a:br>
              <a:rPr lang="nl-BE" sz="1300" dirty="0"/>
            </a:br>
            <a:r>
              <a:rPr lang="nl-BE" sz="1300" dirty="0"/>
              <a:t>Lists.txt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35D76-C162-4F78-8941-A3FB1B00AF53}"/>
              </a:ext>
            </a:extLst>
          </p:cNvPr>
          <p:cNvSpPr txBox="1"/>
          <p:nvPr/>
        </p:nvSpPr>
        <p:spPr>
          <a:xfrm>
            <a:off x="6611969" y="5520591"/>
            <a:ext cx="6864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engine</a:t>
            </a:r>
          </a:p>
          <a:p>
            <a:r>
              <a:rPr lang="nl-BE" sz="1300" dirty="0"/>
              <a:t>.cc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725040-F80D-4DD5-BA65-27BBDC7D91A1}"/>
              </a:ext>
            </a:extLst>
          </p:cNvPr>
          <p:cNvSpPr txBox="1"/>
          <p:nvPr/>
        </p:nvSpPr>
        <p:spPr>
          <a:xfrm>
            <a:off x="8387995" y="2232410"/>
            <a:ext cx="6864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engine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698F0C4-8C60-4F17-8C4C-18FB04BAD771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5588349" y="2329230"/>
            <a:ext cx="707474" cy="14506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D9A6D7-8207-4717-A10D-DA3571AFE599}"/>
              </a:ext>
            </a:extLst>
          </p:cNvPr>
          <p:cNvCxnSpPr>
            <a:endCxn id="11" idx="1"/>
          </p:cNvCxnSpPr>
          <p:nvPr/>
        </p:nvCxnSpPr>
        <p:spPr>
          <a:xfrm flipV="1">
            <a:off x="5588349" y="3342392"/>
            <a:ext cx="707473" cy="4374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95F5C1A-1E51-4C3C-9C7A-BCADD5482B4B}"/>
              </a:ext>
            </a:extLst>
          </p:cNvPr>
          <p:cNvCxnSpPr>
            <a:endCxn id="21" idx="1"/>
          </p:cNvCxnSpPr>
          <p:nvPr/>
        </p:nvCxnSpPr>
        <p:spPr>
          <a:xfrm>
            <a:off x="5588347" y="3779837"/>
            <a:ext cx="972348" cy="789275"/>
          </a:xfrm>
          <a:prstGeom prst="bentConnector3">
            <a:avLst>
              <a:gd name="adj1" fmla="val 368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1670993-10B8-40BD-9559-244B327F3BF1}"/>
              </a:ext>
            </a:extLst>
          </p:cNvPr>
          <p:cNvCxnSpPr>
            <a:stCxn id="5" idx="3"/>
            <a:endCxn id="16" idx="1"/>
          </p:cNvCxnSpPr>
          <p:nvPr/>
        </p:nvCxnSpPr>
        <p:spPr>
          <a:xfrm>
            <a:off x="5588349" y="3779837"/>
            <a:ext cx="986160" cy="1903115"/>
          </a:xfrm>
          <a:prstGeom prst="bentConnector3">
            <a:avLst>
              <a:gd name="adj1" fmla="val 361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6ADC0D-AD3C-42AC-80FC-E1C2D079CD07}"/>
              </a:ext>
            </a:extLst>
          </p:cNvPr>
          <p:cNvCxnSpPr/>
          <p:nvPr/>
        </p:nvCxnSpPr>
        <p:spPr>
          <a:xfrm>
            <a:off x="7564531" y="2394717"/>
            <a:ext cx="786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BD6A31B-3EBA-4AA9-92F2-EEC510595A79}"/>
              </a:ext>
            </a:extLst>
          </p:cNvPr>
          <p:cNvSpPr txBox="1"/>
          <p:nvPr/>
        </p:nvSpPr>
        <p:spPr>
          <a:xfrm>
            <a:off x="645121" y="2639765"/>
            <a:ext cx="2970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CG_engine$ mkdir build</a:t>
            </a:r>
          </a:p>
          <a:p>
            <a:r>
              <a:rPr lang="nl-BE" dirty="0">
                <a:latin typeface="Consolas" panose="020B0609020204030204" pitchFamily="49" charset="0"/>
              </a:rPr>
              <a:t>CG_engine$ cd build</a:t>
            </a:r>
          </a:p>
          <a:p>
            <a:r>
              <a:rPr lang="nl-BE" dirty="0">
                <a:latin typeface="Consolas" panose="020B0609020204030204" pitchFamily="49" charset="0"/>
              </a:rPr>
              <a:t>build$ cmake ..</a:t>
            </a:r>
          </a:p>
          <a:p>
            <a:r>
              <a:rPr lang="nl-BE" dirty="0">
                <a:latin typeface="Consolas" panose="020B0609020204030204" pitchFamily="49" charset="0"/>
              </a:rPr>
              <a:t>build$ make</a:t>
            </a:r>
          </a:p>
          <a:p>
            <a:r>
              <a:rPr lang="nl-BE" dirty="0">
                <a:latin typeface="Consolas" panose="020B0609020204030204" pitchFamily="49" charset="0"/>
              </a:rPr>
              <a:t>build$ ./engine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BE5A7-231D-44EA-9736-65FEC82143DB}"/>
              </a:ext>
            </a:extLst>
          </p:cNvPr>
          <p:cNvSpPr txBox="1"/>
          <p:nvPr/>
        </p:nvSpPr>
        <p:spPr>
          <a:xfrm>
            <a:off x="481094" y="2200113"/>
            <a:ext cx="40293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Engine</a:t>
            </a:r>
            <a:r>
              <a:rPr lang="nl-BE" dirty="0"/>
              <a:t>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builden en runnen (Linux):</a:t>
            </a:r>
            <a:endParaRPr lang="nl-B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1FE75-38CE-40D2-9C75-8E9DCF3DCEFC}"/>
              </a:ext>
            </a:extLst>
          </p:cNvPr>
          <p:cNvSpPr txBox="1"/>
          <p:nvPr/>
        </p:nvSpPr>
        <p:spPr>
          <a:xfrm>
            <a:off x="481094" y="4339094"/>
            <a:ext cx="35661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Buildfiles verwijderen (Linux):</a:t>
            </a:r>
            <a:endParaRPr lang="nl-BE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EE4124-458E-45EF-9BE5-DAAEB4BD13B7}"/>
              </a:ext>
            </a:extLst>
          </p:cNvPr>
          <p:cNvSpPr txBox="1"/>
          <p:nvPr/>
        </p:nvSpPr>
        <p:spPr>
          <a:xfrm>
            <a:off x="655018" y="4793554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CG_engine$ rm –rf build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601255-90A2-4B1B-9C90-6AE90A24316B}"/>
              </a:ext>
            </a:extLst>
          </p:cNvPr>
          <p:cNvSpPr txBox="1"/>
          <p:nvPr/>
        </p:nvSpPr>
        <p:spPr>
          <a:xfrm>
            <a:off x="481094" y="5484420"/>
            <a:ext cx="53312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Engine draaien op alle ini files in map (Linux):</a:t>
            </a:r>
            <a:endParaRPr lang="nl-B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00E4B-CEFF-4EBE-A0A0-D05B47A9402D}"/>
              </a:ext>
            </a:extLst>
          </p:cNvPr>
          <p:cNvSpPr txBox="1"/>
          <p:nvPr/>
        </p:nvSpPr>
        <p:spPr>
          <a:xfrm>
            <a:off x="650988" y="5944486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ini$ ../build/engine *ini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43150CB-4A00-4928-84C3-6B112F7B4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82" y="2977728"/>
            <a:ext cx="711329" cy="9612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CE14A49-AA39-494F-A5C2-B7A2D6B4D2EC}"/>
              </a:ext>
            </a:extLst>
          </p:cNvPr>
          <p:cNvSpPr txBox="1"/>
          <p:nvPr/>
        </p:nvSpPr>
        <p:spPr>
          <a:xfrm>
            <a:off x="8487792" y="3305166"/>
            <a:ext cx="6399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fig001</a:t>
            </a:r>
            <a:br>
              <a:rPr lang="nl-BE" sz="1300" dirty="0"/>
            </a:br>
            <a:r>
              <a:rPr lang="nl-BE" sz="1300" dirty="0"/>
              <a:t>.ini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4FC0AA-A615-450C-8DD7-0F3330ADC95D}"/>
              </a:ext>
            </a:extLst>
          </p:cNvPr>
          <p:cNvCxnSpPr/>
          <p:nvPr/>
        </p:nvCxnSpPr>
        <p:spPr>
          <a:xfrm>
            <a:off x="7592918" y="3458356"/>
            <a:ext cx="786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060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5892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runnen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via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Clion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(C++)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21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BE5A7-231D-44EA-9736-65FEC82143DB}"/>
              </a:ext>
            </a:extLst>
          </p:cNvPr>
          <p:cNvSpPr txBox="1"/>
          <p:nvPr/>
        </p:nvSpPr>
        <p:spPr>
          <a:xfrm>
            <a:off x="481094" y="1288579"/>
            <a:ext cx="8113247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Open de map met je project in CLion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Voorzie een submap met daarin je ini-files</a:t>
            </a: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Stel rechtsboven een Configuration in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Kies als working directory de submap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met je ini’s, 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 als argument : *ini</a:t>
            </a:r>
          </a:p>
          <a:p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Zo genereert je engine alle afbeeldingen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die in de map beschreven worden</a:t>
            </a: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Argument *ini werkt op sommige systemen niet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Laat dan het argument leeg en voorzie in de map het bestand `filelist`</a:t>
            </a: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dat lijn per lijn elke ini-file opsomt.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Deze `filelist` is op BlackBoard telkens voorzien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7929-9251-4CB5-919D-04FFE829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39" y="2128668"/>
            <a:ext cx="2886075" cy="1152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53F37-D1B6-4835-9FEF-35F2B189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625" y="2790592"/>
            <a:ext cx="2286000" cy="2695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5BC83D-8FCC-4D4A-A6AC-D619FB900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578" y="3510306"/>
            <a:ext cx="2105025" cy="14573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955C91-E95F-46E6-B1B3-7FFFF077309A}"/>
              </a:ext>
            </a:extLst>
          </p:cNvPr>
          <p:cNvSpPr/>
          <p:nvPr/>
        </p:nvSpPr>
        <p:spPr>
          <a:xfrm>
            <a:off x="6520441" y="4658720"/>
            <a:ext cx="598206" cy="273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69091A-781F-44FD-BD1D-8854627EA811}"/>
              </a:ext>
            </a:extLst>
          </p:cNvPr>
          <p:cNvSpPr/>
          <p:nvPr/>
        </p:nvSpPr>
        <p:spPr>
          <a:xfrm>
            <a:off x="7986933" y="3172396"/>
            <a:ext cx="598206" cy="273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82DBC3B-B73B-488B-BFAD-40F2795E79B5}"/>
              </a:ext>
            </a:extLst>
          </p:cNvPr>
          <p:cNvCxnSpPr>
            <a:stCxn id="24" idx="3"/>
            <a:endCxn id="45" idx="1"/>
          </p:cNvCxnSpPr>
          <p:nvPr/>
        </p:nvCxnSpPr>
        <p:spPr>
          <a:xfrm flipV="1">
            <a:off x="7118647" y="3309129"/>
            <a:ext cx="868286" cy="148632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897EA28-98D4-4A91-AF5B-C144B65DFB0E}"/>
              </a:ext>
            </a:extLst>
          </p:cNvPr>
          <p:cNvSpPr txBox="1"/>
          <p:nvPr/>
        </p:nvSpPr>
        <p:spPr>
          <a:xfrm>
            <a:off x="5252578" y="4999902"/>
            <a:ext cx="238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dirty="0">
                <a:solidFill>
                  <a:srgbClr val="FF0000"/>
                </a:solidFill>
              </a:rPr>
              <a:t>Relatief pad t.o.v. `cmake-build-debug`</a:t>
            </a:r>
          </a:p>
          <a:p>
            <a:r>
              <a:rPr lang="nl-BE" sz="1000" dirty="0">
                <a:solidFill>
                  <a:srgbClr val="FF0000"/>
                </a:solidFill>
              </a:rPr>
              <a:t>Forward slash op Linux/macOS</a:t>
            </a:r>
          </a:p>
        </p:txBody>
      </p:sp>
    </p:spTree>
    <p:extLst>
      <p:ext uri="{BB962C8B-B14F-4D97-AF65-F5344CB8AC3E}">
        <p14:creationId xmlns:p14="http://schemas.microsoft.com/office/powerpoint/2010/main" val="2818374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5892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runnen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via PyCharm (</a:t>
            </a:r>
            <a:r>
              <a:rPr lang="en-GB" sz="28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Python)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22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BE5A7-231D-44EA-9736-65FEC82143DB}"/>
              </a:ext>
            </a:extLst>
          </p:cNvPr>
          <p:cNvSpPr txBox="1"/>
          <p:nvPr/>
        </p:nvSpPr>
        <p:spPr>
          <a:xfrm>
            <a:off x="481094" y="1288579"/>
            <a:ext cx="755354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Analoog aan 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CLion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(vorige slide)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Tot en met 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working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directory (geen program 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arguments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)</a:t>
            </a: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Geef namen van *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ini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files mee als script parameters</a:t>
            </a: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OF</a:t>
            </a: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Geen script parameters voorzien </a:t>
            </a:r>
            <a:r>
              <a:rPr lang="nl-BE" sz="2200" spc="-1" dirty="0">
                <a:solidFill>
                  <a:srgbClr val="003D64"/>
                </a:solidFill>
                <a:latin typeface="FreeSans"/>
                <a:sym typeface="Wingdings" panose="05000000000000000000" pitchFamily="2" charset="2"/>
              </a:rPr>
              <a:t>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onze __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main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__functie vindt alle *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ini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files in de </a:t>
            </a:r>
            <a:r>
              <a:rPr lang="nl-BE" sz="2200" spc="-1" dirty="0" err="1">
                <a:solidFill>
                  <a:srgbClr val="003D64"/>
                </a:solidFill>
                <a:latin typeface="FreeSans"/>
              </a:rPr>
              <a:t>working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 directory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 probeert voor elke een *bmp te maken. 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F8587-B5D2-4EEA-D0DE-9FA4B4253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33" y="4994746"/>
            <a:ext cx="29527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2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Vereisten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inzendingen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(C++)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2"/>
          <p:cNvSpPr txBox="1"/>
          <p:nvPr/>
        </p:nvSpPr>
        <p:spPr>
          <a:xfrm>
            <a:off x="647640" y="9237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Eén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s&lt;</a:t>
            </a:r>
            <a:r>
              <a:rPr lang="en-GB" sz="2400" b="0" strike="noStrike" spc="-1" dirty="0" err="1">
                <a:solidFill>
                  <a:srgbClr val="003D64"/>
                </a:solidFill>
                <a:latin typeface="Courier New"/>
                <a:ea typeface="ＭＳ Ｐゴシック"/>
              </a:rPr>
              <a:t>rolnummer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&gt;.tar.gz 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daarin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Alle source-files die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engine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compileren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‘</a:t>
            </a:r>
            <a:r>
              <a:rPr lang="en-GB" sz="21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overzicht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wat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</a:t>
            </a:r>
            <a:r>
              <a:rPr lang="nl-BE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ï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mplementeerd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Voorbeeld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BlackBoard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Eén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CMakeLists.txt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engine mee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compileren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Moet in de root van het 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.tar.gz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staan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“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make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”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engine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compileren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executable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naam “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engine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”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hebben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komt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dezelfde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directory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make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uitgevoerd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utils.tar.gz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voorbeeld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CMakeLists.txt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ini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-files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behalve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specifiek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gevraagd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inputformaat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het ‘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uitleg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gegenereerde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images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gecompileerde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code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285840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.zip, 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rar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,… file (.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tgz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ok)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5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A3DAA40-AA06-4968-BF40-B55A8C6855C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Effect">
                      <p:stCondLst>
                        <p:cond delay="indefinite"/>
                      </p:stCondLst>
                      <p:childTnLst>
                        <p:par>
                          <p:cTn id="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Effect">
                      <p:stCondLst>
                        <p:cond delay="indefinite"/>
                      </p:stCondLst>
                      <p:childTnLst>
                        <p:par>
                          <p:cTn id="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Effect">
                      <p:stCondLst>
                        <p:cond delay="indefinite"/>
                      </p:stCondLst>
                      <p:childTnLst>
                        <p:par>
                          <p:cTn id="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Vereisten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inzendingen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</a:t>
            </a:r>
            <a:r>
              <a:rPr lang="en-GB" sz="28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Python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2"/>
          <p:cNvSpPr txBox="1"/>
          <p:nvPr/>
        </p:nvSpPr>
        <p:spPr>
          <a:xfrm>
            <a:off x="647640" y="9237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Eén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s&lt;</a:t>
            </a:r>
            <a:r>
              <a:rPr lang="en-GB" sz="2400" b="0" strike="noStrike" spc="-1" dirty="0" err="1">
                <a:solidFill>
                  <a:srgbClr val="003D64"/>
                </a:solidFill>
                <a:latin typeface="Courier New"/>
                <a:ea typeface="ＭＳ Ｐゴシック"/>
              </a:rPr>
              <a:t>rolnummer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&gt;.tar.gz 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daarin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Alle source-files (.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py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 die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engine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runnen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‘</a:t>
            </a:r>
            <a:r>
              <a:rPr lang="en-GB" sz="21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overzicht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wat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</a:t>
            </a:r>
            <a:r>
              <a:rPr lang="nl-BE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ï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mplementeerd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Voorbeeld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BlackBoard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ini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-files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behalve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specifiek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gevraagd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inputformaat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het ‘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uitleg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gegenereerde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images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285840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.zip, 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rar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,… file (.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tgz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ok)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5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A3DAA40-AA06-4968-BF40-B55A8C6855C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24</a:t>
            </a:fld>
            <a:endParaRPr lang="nl-BE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80346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Shape 2"/>
          <p:cNvSpPr txBox="1"/>
          <p:nvPr/>
        </p:nvSpPr>
        <p:spPr>
          <a:xfrm>
            <a:off x="503280" y="1260360"/>
            <a:ext cx="9034200" cy="57337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elke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PDF-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op 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Beschrijft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doen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Beschrijft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ini-bestandsformaat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detail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document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je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houden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je engine!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presentatie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dient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verduidelijken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bevat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meestal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C++/Python code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fragmenten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dienen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illustratie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voldoen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regels van de kunst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Je mag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hierop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baseren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nuttig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vindt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Je bent 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code-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fragmenten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1302F78-3DCC-4880-9A25-75A3963EB2E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3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3895586-A2CD-4886-B023-D4AD3A91E40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26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64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Shape 2"/>
          <p:cNvSpPr txBox="1"/>
          <p:nvPr/>
        </p:nvSpPr>
        <p:spPr>
          <a:xfrm>
            <a:off x="503280" y="12603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::)</a:t>
            </a:r>
            <a:r>
              <a:rPr lang="en-GB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Inlezen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INI-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configuratiebestanden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::)</a:t>
            </a:r>
            <a:r>
              <a:rPr lang="en-GB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Eenvoudige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 Library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engine.cc/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py</a:t>
            </a: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‘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Standaard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 interface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aanspreken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de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grafische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LParser</a:t>
            </a: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Klasse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L-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Systemen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parsen</a:t>
            </a:r>
            <a:br>
              <a:rPr dirty="0"/>
            </a:b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uitgelegd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2D-Lsystemen)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Matrix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&amp; </a:t>
            </a:r>
            <a:r>
              <a:rPr lang="en-GB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Vector3D (</a:t>
            </a:r>
            <a:r>
              <a:rPr lang="en-GB" spc="-1" dirty="0">
                <a:solidFill>
                  <a:srgbClr val="003D64"/>
                </a:solidFill>
                <a:latin typeface="FreeSans"/>
              </a:rPr>
              <a:t>C++ only</a:t>
            </a:r>
            <a:r>
              <a:rPr lang="en-GB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)</a:t>
            </a: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Eenvoudige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maar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krachtige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Matrix Library</a:t>
            </a:r>
            <a:br>
              <a:rPr dirty="0"/>
            </a:b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uitgelegd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3D </a:t>
            </a:r>
            <a:r>
              <a:rPr lang="en-GB" sz="1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Lijntekeningen</a:t>
            </a:r>
            <a:r>
              <a:rPr lang="en-GB" sz="1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7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8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72672B67-7E1E-4D1B-96C1-DEAD8227589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27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en-GB" sz="2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::)</a:t>
            </a:r>
            <a:r>
              <a:rPr lang="en-GB" sz="2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2"/>
          <p:cNvSpPr txBox="1"/>
          <p:nvPr/>
        </p:nvSpPr>
        <p:spPr>
          <a:xfrm>
            <a:off x="503280" y="1260360"/>
            <a:ext cx="9034200" cy="375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Voorbeeld configuratiebestand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71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72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BAAD22-A28A-4D73-ABE0-C36EAC757DC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28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73" name="CustomShape 5"/>
          <p:cNvSpPr/>
          <p:nvPr/>
        </p:nvSpPr>
        <p:spPr>
          <a:xfrm>
            <a:off x="789480" y="1779480"/>
            <a:ext cx="8593560" cy="374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[DitIsEenSectie]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key = 1234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andereKey = 'Hello world!' </a:t>
            </a:r>
            <a:r>
              <a:rPr lang="nl-BE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; Dit is commentaar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reeleWaarde = 3.14 </a:t>
            </a:r>
            <a:r>
              <a:rPr lang="nl-BE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; pi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[DitIsEenAndereSectie]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booleanWaarde = TRUE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stringWaarde = 'Dit is de waarde...'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ookEenString = bla bla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reeleTupleWaarde = (1.0, 5.0, 0.4)</a:t>
            </a:r>
            <a:endParaRPr lang="nl-BE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Shape 2"/>
          <p:cNvSpPr txBox="1"/>
          <p:nvPr/>
        </p:nvSpPr>
        <p:spPr>
          <a:xfrm>
            <a:off x="503280" y="1260360"/>
            <a:ext cx="9034200" cy="53766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ini-bestand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bevat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i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altijd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sectie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General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sectie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bevat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altijd</a:t>
            </a:r>
            <a:r>
              <a:rPr lang="en-GB" sz="22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type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br>
              <a:rPr dirty="0"/>
            </a:b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type=“&lt;type&gt;”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Dient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onderscheid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tussen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verschillende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INI-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ingelezen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door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klasse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br>
              <a:rPr dirty="0"/>
            </a:b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	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::)</a:t>
            </a:r>
            <a:r>
              <a:rPr lang="en-GB" sz="24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Drie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soorten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methodes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om parameters op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vragen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.as_&lt;type&gt;_</a:t>
            </a:r>
            <a:r>
              <a:rPr lang="en-GB" sz="22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or_die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.as_&lt;type&gt;_</a:t>
            </a:r>
            <a:r>
              <a:rPr lang="en-GB" sz="22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if_exists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.as_&lt;type&gt;_</a:t>
            </a:r>
            <a:r>
              <a:rPr lang="en-GB" sz="22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or_default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7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7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A1D322F-56A2-431D-9F96-000FCC53F8D6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29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EAD00-177C-D418-F7EF-C0C260453A7E}"/>
              </a:ext>
            </a:extLst>
          </p:cNvPr>
          <p:cNvSpPr txBox="1"/>
          <p:nvPr/>
        </p:nvSpPr>
        <p:spPr>
          <a:xfrm>
            <a:off x="7957225" y="49319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.as_&lt;type&gt;_or_die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2"/>
          <p:cNvSpPr txBox="1"/>
          <p:nvPr/>
        </p:nvSpPr>
        <p:spPr>
          <a:xfrm>
            <a:off x="503280" y="1260360"/>
            <a:ext cx="9034200" cy="10900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in een geldige configuratie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moeten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voorkomen.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 of een verkeerd type heeft, stopt het programma.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8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8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3D1D1ED-FEA0-4F5D-BA39-32372BEFC30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30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82" name="CustomShape 5"/>
          <p:cNvSpPr/>
          <p:nvPr/>
        </p:nvSpPr>
        <p:spPr>
          <a:xfrm>
            <a:off x="325440" y="2494080"/>
            <a:ext cx="9143640" cy="4707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ifstream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 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(fin);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string 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type=</a:t>
            </a:r>
            <a:br>
              <a:rPr dirty="0"/>
            </a:b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”type"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].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as_string_or_die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br>
              <a:rPr dirty="0"/>
            </a:b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].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as_int_or_die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&gt;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doubleTuple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br>
              <a:rPr dirty="0"/>
            </a:b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tuple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].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as_double_tuple_or_die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 dirty="0">
              <a:latin typeface="Arial"/>
            </a:endParaRPr>
          </a:p>
        </p:txBody>
      </p:sp>
      <p:sp>
        <p:nvSpPr>
          <p:cNvPr id="283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677E4-79B1-499C-5D1D-04506FFABF0A}"/>
              </a:ext>
            </a:extLst>
          </p:cNvPr>
          <p:cNvSpPr txBox="1"/>
          <p:nvPr/>
        </p:nvSpPr>
        <p:spPr>
          <a:xfrm>
            <a:off x="7830765" y="2826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.as_&lt;type&gt;_or_die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in een geldige configuratie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moeten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voorkomen.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 of een verkeerd type heeft, stopt het programma.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000" b="1" strike="noStrike" spc="-1">
                <a:solidFill>
                  <a:srgbClr val="003D64"/>
                </a:solidFill>
                <a:latin typeface="Courier New"/>
                <a:ea typeface="ＭＳ Ｐゴシック"/>
              </a:rPr>
              <a:t>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kan zélf naar het juiste </a:t>
            </a:r>
            <a:br/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type casten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8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8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C27F7F-BAF2-48BF-A66C-E2D0DA981967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31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88" name="CustomShape 5"/>
          <p:cNvSpPr/>
          <p:nvPr/>
        </p:nvSpPr>
        <p:spPr>
          <a:xfrm>
            <a:off x="182520" y="3159000"/>
            <a:ext cx="9897840" cy="34764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ifstream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 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(fin);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string 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type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”type"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std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20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&gt;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doubleTuple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tuple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 dirty="0">
              <a:latin typeface="Arial"/>
            </a:endParaRPr>
          </a:p>
        </p:txBody>
      </p:sp>
      <p:sp>
        <p:nvSpPr>
          <p:cNvPr id="289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71983-3BBC-20E1-FF5B-6059205236E6}"/>
              </a:ext>
            </a:extLst>
          </p:cNvPr>
          <p:cNvSpPr txBox="1"/>
          <p:nvPr/>
        </p:nvSpPr>
        <p:spPr>
          <a:xfrm>
            <a:off x="8054501" y="359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.as_&lt;type&gt;_if_exists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niet per se aanwezig moeten zijn.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Waarde wordt opgeslagen in de opgegeven parameter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bool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return waarde: geeft aan of de waarde bestaat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69C1059D-A33C-494A-A3B5-9071E7A6725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32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94" name="CustomShape 5"/>
          <p:cNvSpPr/>
          <p:nvPr/>
        </p:nvSpPr>
        <p:spPr>
          <a:xfrm>
            <a:off x="182520" y="3159000"/>
            <a:ext cx="9897840" cy="37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intVal;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if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"intVal"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].as_int_if_exists(intVal))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//do something useful here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295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AA76E-27F1-764D-A90A-09F24558CBBD}"/>
              </a:ext>
            </a:extLst>
          </p:cNvPr>
          <p:cNvSpPr txBox="1"/>
          <p:nvPr/>
        </p:nvSpPr>
        <p:spPr>
          <a:xfrm>
            <a:off x="8161506" y="1792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.as_&lt;type&gt;_or_default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niet per se aanwezig moeten zijn.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bestaat, wordt een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default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waarde teruggegeven.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5D68E2C-B60F-4C33-A879-AB3BEA61488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33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182520" y="3159000"/>
            <a:ext cx="9897840" cy="2834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int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"Section4"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"blabla"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].as_int_or_default(0); 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81E7B-3E23-AD69-6E7D-5178789D866E}"/>
              </a:ext>
            </a:extLst>
          </p:cNvPr>
          <p:cNvSpPr txBox="1"/>
          <p:nvPr/>
        </p:nvSpPr>
        <p:spPr>
          <a:xfrm>
            <a:off x="8161506" y="1792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503280" y="1260359"/>
            <a:ext cx="9034200" cy="8982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Configuration object is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“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dubbele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”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dict</a:t>
            </a:r>
            <a:endParaRPr lang="en-GB" sz="2000" b="1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Parser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probeert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juiste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 type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kiezen</a:t>
            </a:r>
            <a:endParaRPr lang="en-GB" sz="2000" b="1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5D68E2C-B60F-4C33-A879-AB3BEA61488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34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183344" y="2088958"/>
            <a:ext cx="9897840" cy="4707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from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ini_configuration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b="1" spc="-1" dirty="0">
                <a:solidFill>
                  <a:srgbClr val="7F0055"/>
                </a:solidFill>
                <a:latin typeface="Courier New"/>
                <a:ea typeface="ＭＳ Ｐゴシック"/>
              </a:rPr>
              <a:t>import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nl-BE" sz="2000" spc="-1" dirty="0">
              <a:solidFill>
                <a:srgbClr val="005032"/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ilename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filename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#waarde tussen aanhalingstekens wordt string</a:t>
            </a:r>
            <a:endParaRPr lang="nl-BE" sz="2000" b="0" strike="noStrike" spc="-1" dirty="0">
              <a:solidFill>
                <a:schemeClr val="bg1">
                  <a:lumMod val="50000"/>
                </a:schemeClr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str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“type"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#getal zonder komma wordt int</a:t>
            </a:r>
          </a:p>
          <a:p>
            <a:pPr>
              <a:lnSpc>
                <a:spcPct val="100000"/>
              </a:lnSpc>
            </a:pP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</a:p>
          <a:p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#getal met komma wordt 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float</a:t>
            </a:r>
            <a:endParaRPr lang="nl-BE" sz="2000" spc="-1" dirty="0">
              <a:solidFill>
                <a:schemeClr val="bg1">
                  <a:lumMod val="50000"/>
                </a:schemeClr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floatV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b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</a:b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#TRUE en FALSE worden 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Boolean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 True/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False</a:t>
            </a:r>
            <a:endParaRPr lang="nl-BE" sz="2000" spc="-1" dirty="0">
              <a:solidFill>
                <a:schemeClr val="bg1">
                  <a:lumMod val="50000"/>
                </a:schemeClr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isDraw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“draw"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</a:p>
          <a:p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#(a,b,c) wordt Python 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tuple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, met elementen 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str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/int/</a:t>
            </a:r>
            <a:r>
              <a:rPr lang="nl-BE" sz="2000" spc="-1" dirty="0" err="1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float</a:t>
            </a:r>
            <a:endParaRPr lang="nl-BE" sz="2000" spc="-1" dirty="0">
              <a:solidFill>
                <a:schemeClr val="bg1">
                  <a:lumMod val="50000"/>
                </a:schemeClr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tup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tuple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endParaRPr lang="nl-B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 dirty="0">
              <a:latin typeface="Arial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7120080" y="2422440"/>
            <a:ext cx="2798628" cy="2029871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type="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Hello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World"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1</a:t>
            </a:r>
          </a:p>
          <a:p>
            <a:pPr>
              <a:lnSpc>
                <a:spcPct val="100000"/>
              </a:lnSpc>
            </a:pPr>
            <a:r>
              <a:rPr lang="nl-B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floatV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3.0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tuple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= (1, 3.14, 5)</a:t>
            </a:r>
          </a:p>
          <a:p>
            <a:pPr>
              <a:lnSpc>
                <a:spcPct val="100000"/>
              </a:lnSpc>
            </a:pP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draw = TRUE</a:t>
            </a:r>
            <a:endParaRPr lang="nl-BE" sz="18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2B2BA-559F-92AE-D389-C1EA2CFE1C52}"/>
              </a:ext>
            </a:extLst>
          </p:cNvPr>
          <p:cNvSpPr txBox="1"/>
          <p:nvPr/>
        </p:nvSpPr>
        <p:spPr>
          <a:xfrm>
            <a:off x="8103140" y="338082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Python only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504720" y="1077480"/>
            <a:ext cx="9034200" cy="8982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Error handling: eigen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verantwoordelijkheid</a:t>
            </a:r>
            <a:endParaRPr lang="en-GB" sz="2000" b="1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5D68E2C-B60F-4C33-A879-AB3BEA61488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35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182785" y="1966503"/>
            <a:ext cx="9897840" cy="50153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#Verplichte waarde: crash bij ontbreken</a:t>
            </a:r>
            <a:endParaRPr lang="nl-BE" sz="2000" b="0" strike="noStrike" spc="-1" dirty="0">
              <a:solidFill>
                <a:schemeClr val="bg1">
                  <a:lumMod val="50000"/>
                </a:schemeClr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str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MySize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</a:p>
          <a:p>
            <a:pPr>
              <a:lnSpc>
                <a:spcPct val="100000"/>
              </a:lnSpc>
            </a:pPr>
            <a:endParaRPr lang="nl-BE" sz="2000" spc="-1" dirty="0">
              <a:solidFill>
                <a:schemeClr val="bg1">
                  <a:lumMod val="50000"/>
                </a:schemeClr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#Nagaan of de waarde bestaat</a:t>
            </a:r>
          </a:p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try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</a:t>
            </a: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MySize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except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None</a:t>
            </a:r>
          </a:p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if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2000" b="1" spc="-1" dirty="0">
                <a:solidFill>
                  <a:srgbClr val="7030A0"/>
                </a:solidFill>
                <a:latin typeface="Courier New"/>
                <a:ea typeface="ＭＳ Ｐゴシック"/>
              </a:rPr>
              <a:t>is </a:t>
            </a: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not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None:</a:t>
            </a:r>
          </a:p>
          <a:p>
            <a:pPr>
              <a:lnSpc>
                <a:spcPct val="100000"/>
              </a:lnSpc>
            </a:pP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</a:t>
            </a:r>
            <a:r>
              <a:rPr lang="nl-BE" sz="2000" b="1" spc="-1" dirty="0">
                <a:solidFill>
                  <a:srgbClr val="7030A0"/>
                </a:solidFill>
                <a:latin typeface="Courier New"/>
                <a:ea typeface="ＭＳ Ｐゴシック"/>
              </a:rPr>
              <a:t>print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) 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#enkel bereikt als waarde bestond</a:t>
            </a:r>
            <a:endParaRPr lang="nl-BE" sz="2000" b="0" strike="noStrike" spc="-1" dirty="0">
              <a:solidFill>
                <a:schemeClr val="bg1">
                  <a:lumMod val="50000"/>
                </a:schemeClr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spc="-1" dirty="0">
              <a:solidFill>
                <a:schemeClr val="bg1">
                  <a:lumMod val="50000"/>
                </a:schemeClr>
              </a:solidFill>
              <a:latin typeface="Courier New"/>
              <a:ea typeface="ＭＳ Ｐゴシック"/>
            </a:endParaRPr>
          </a:p>
          <a:p>
            <a:pPr>
              <a:lnSpc>
                <a:spcPct val="100000"/>
              </a:lnSpc>
            </a:pP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#Fallback waarde bij ontbreken</a:t>
            </a:r>
          </a:p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try</a:t>
            </a:r>
            <a:r>
              <a:rPr lang="nl-BE" sz="2000" spc="-1" dirty="0">
                <a:solidFill>
                  <a:schemeClr val="bg1">
                    <a:lumMod val="50000"/>
                  </a:schemeClr>
                </a:solidFill>
                <a:latin typeface="Courier New"/>
                <a:ea typeface="ＭＳ Ｐゴシック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</a:t>
            </a: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conf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“General"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“</a:t>
            </a:r>
            <a:r>
              <a:rPr lang="nl-BE" sz="20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MySize</a:t>
            </a:r>
            <a:r>
              <a:rPr lang="nl-BE" sz="20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nl-BE" sz="2000" b="1" spc="-1" dirty="0" err="1">
                <a:solidFill>
                  <a:srgbClr val="7030A0"/>
                </a:solidFill>
                <a:latin typeface="Courier New"/>
                <a:ea typeface="ＭＳ Ｐゴシック"/>
              </a:rPr>
              <a:t>except</a:t>
            </a:r>
            <a:r>
              <a:rPr lang="nl-BE" sz="2000" spc="-1" dirty="0">
                <a:solidFill>
                  <a:srgbClr val="000000"/>
                </a:solidFill>
                <a:latin typeface="Courier New"/>
                <a:ea typeface="ＭＳ Ｐゴシック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</a:t>
            </a:r>
            <a:r>
              <a:rPr lang="nl-BE" sz="2000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</a:t>
            </a:r>
            <a:r>
              <a:rPr lang="nl-BE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</a:t>
            </a:r>
            <a:r>
              <a:rPr lang="nl-BE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500</a:t>
            </a:r>
          </a:p>
        </p:txBody>
      </p:sp>
      <p:sp>
        <p:nvSpPr>
          <p:cNvPr id="301" name="CustomShape 6"/>
          <p:cNvSpPr/>
          <p:nvPr/>
        </p:nvSpPr>
        <p:spPr>
          <a:xfrm>
            <a:off x="7120080" y="2422440"/>
            <a:ext cx="2798628" cy="230687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type="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Hello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World“</a:t>
            </a:r>
          </a:p>
          <a:p>
            <a:pPr>
              <a:lnSpc>
                <a:spcPct val="100000"/>
              </a:lnSpc>
            </a:pPr>
            <a:r>
              <a:rPr lang="nl-B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size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=1000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intVal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1</a:t>
            </a:r>
          </a:p>
          <a:p>
            <a:pPr>
              <a:lnSpc>
                <a:spcPct val="100000"/>
              </a:lnSpc>
            </a:pPr>
            <a:r>
              <a:rPr lang="nl-B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floatV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3.0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tuple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= (1, 3.14, 5)</a:t>
            </a:r>
          </a:p>
          <a:p>
            <a:pPr>
              <a:lnSpc>
                <a:spcPct val="100000"/>
              </a:lnSpc>
            </a:pP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draw = TRUE</a:t>
            </a:r>
            <a:endParaRPr lang="nl-BE" sz="18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2B2BA-559F-92AE-D389-C1EA2CFE1C52}"/>
              </a:ext>
            </a:extLst>
          </p:cNvPr>
          <p:cNvSpPr txBox="1"/>
          <p:nvPr/>
        </p:nvSpPr>
        <p:spPr>
          <a:xfrm>
            <a:off x="8103140" y="338082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Python only</a:t>
            </a:r>
          </a:p>
        </p:txBody>
      </p:sp>
    </p:spTree>
    <p:extLst>
      <p:ext uri="{BB962C8B-B14F-4D97-AF65-F5344CB8AC3E}">
        <p14:creationId xmlns:p14="http://schemas.microsoft.com/office/powerpoint/2010/main" val="979949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img::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Shape 2"/>
          <p:cNvSpPr txBox="1"/>
          <p:nvPr/>
        </p:nvSpPr>
        <p:spPr>
          <a:xfrm>
            <a:off x="503280" y="1260360"/>
            <a:ext cx="9034200" cy="51876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methodes: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0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737F7D6-D039-4577-8E6F-AFA5413F38B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36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350280" y="1650960"/>
            <a:ext cx="9741298" cy="59078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class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EasyImage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public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EasyImage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width,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height,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			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bgColor = Color());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		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get_width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get_height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Function operator, This operator returns a reference 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to a particular pixel of the image.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Color&amp;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operator()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void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clear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bgColor = Color());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// Draws a line from pixel (x0,y0) to pixel 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(x1,y1) in the specified color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void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draw_line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x0,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y0,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	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x1,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y1,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    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color);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};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8B5AF6-538C-FA1E-FC55-7AA04DE578CE}"/>
              </a:ext>
            </a:extLst>
          </p:cNvPr>
          <p:cNvSpPr txBox="1"/>
          <p:nvPr/>
        </p:nvSpPr>
        <p:spPr>
          <a:xfrm>
            <a:off x="7062281" y="5239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img::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Shape 2"/>
          <p:cNvSpPr txBox="1"/>
          <p:nvPr/>
        </p:nvSpPr>
        <p:spPr>
          <a:xfrm>
            <a:off x="503280" y="1260360"/>
            <a:ext cx="9034200" cy="375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Voorbeeld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9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0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FAB3853-C0A6-41D7-BC60-C6D24B2D0B1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37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11" name="CustomShape 5"/>
          <p:cNvSpPr/>
          <p:nvPr/>
        </p:nvSpPr>
        <p:spPr>
          <a:xfrm>
            <a:off x="468360" y="1708200"/>
            <a:ext cx="8388000" cy="5302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&lt;fstream&gt;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”easy_image.h"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img::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image(256,256);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 for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0; i &lt; 256; i++)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j = 0; j &lt; 256; j++)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red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i;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green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j;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blue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(i+j)%256;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std::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ofstream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fout(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"out.bmp"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, std::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ios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binary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fout &lt;&lt; image;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fout.close();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 return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800" b="0" strike="noStrike" spc="-1">
              <a:latin typeface="Arial"/>
            </a:endParaRPr>
          </a:p>
        </p:txBody>
      </p:sp>
      <p:pic>
        <p:nvPicPr>
          <p:cNvPr id="312" name="Picture 6" descr="easyimage.png"/>
          <p:cNvPicPr/>
          <p:nvPr/>
        </p:nvPicPr>
        <p:blipFill>
          <a:blip r:embed="rId2"/>
          <a:stretch/>
        </p:blipFill>
        <p:spPr>
          <a:xfrm>
            <a:off x="6611760" y="1779480"/>
            <a:ext cx="3250800" cy="3250800"/>
          </a:xfrm>
          <a:prstGeom prst="rect">
            <a:avLst/>
          </a:prstGeom>
          <a:ln w="9360">
            <a:solidFill>
              <a:schemeClr val="tx1"/>
            </a:solidFill>
            <a:miter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354C22-2BFB-6063-F0C4-7FC560D62F35}"/>
              </a:ext>
            </a:extLst>
          </p:cNvPr>
          <p:cNvSpPr txBox="1"/>
          <p:nvPr/>
        </p:nvSpPr>
        <p:spPr>
          <a:xfrm>
            <a:off x="5924145" y="4437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C++ only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Shape 2"/>
          <p:cNvSpPr txBox="1"/>
          <p:nvPr/>
        </p:nvSpPr>
        <p:spPr>
          <a:xfrm>
            <a:off x="503280" y="1260360"/>
            <a:ext cx="9034200" cy="375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Voorbeeld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9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0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FAB3853-C0A6-41D7-BC60-C6D24B2D0B1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38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11" name="CustomShape 5"/>
          <p:cNvSpPr/>
          <p:nvPr/>
        </p:nvSpPr>
        <p:spPr>
          <a:xfrm>
            <a:off x="468360" y="1708200"/>
            <a:ext cx="8388000" cy="28608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f</a:t>
            </a:r>
            <a:r>
              <a:rPr lang="nl-BE" sz="1800" b="0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rom</a:t>
            </a:r>
            <a:r>
              <a:rPr lang="nl-BE" sz="18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 </a:t>
            </a:r>
            <a:r>
              <a:rPr lang="nl-B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easy_image</a:t>
            </a:r>
            <a:r>
              <a:rPr lang="nl-BE" sz="18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 import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EasyImage</a:t>
            </a:r>
            <a:r>
              <a:rPr lang="nl-BE" sz="18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, </a:t>
            </a:r>
            <a:r>
              <a:rPr lang="nl-BE" sz="1800" b="0" strike="noStrike" spc="-1" dirty="0" err="1">
                <a:solidFill>
                  <a:srgbClr val="1010C4"/>
                </a:solidFill>
                <a:latin typeface="Courier New"/>
                <a:ea typeface="ＭＳ Ｐゴシック"/>
              </a:rPr>
              <a:t>save_bmp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image = </a:t>
            </a:r>
            <a:r>
              <a:rPr lang="nl-BE" sz="18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(256,256)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  </a:t>
            </a:r>
            <a:r>
              <a:rPr lang="nl-BE" sz="18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i in range(256):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8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j in range(256):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  image[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i,j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.</a:t>
            </a:r>
            <a:r>
              <a:rPr lang="nl-BE" sz="18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red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i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  image[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i,j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.</a:t>
            </a:r>
            <a:r>
              <a:rPr lang="nl-BE" sz="18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green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j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  image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[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i,j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]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</a:t>
            </a:r>
            <a:r>
              <a:rPr lang="nl-BE" sz="18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blue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= (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i+j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)%256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</a:t>
            </a:r>
            <a:r>
              <a:rPr lang="nl-BE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save_bmp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(image, </a:t>
            </a:r>
            <a:r>
              <a:rPr lang="nl-BE" sz="18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"out.bmp"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</a:t>
            </a:r>
            <a:endParaRPr lang="nl-BE" sz="1800" b="0" strike="noStrike" spc="-1" dirty="0">
              <a:latin typeface="Arial"/>
            </a:endParaRPr>
          </a:p>
        </p:txBody>
      </p:sp>
      <p:pic>
        <p:nvPicPr>
          <p:cNvPr id="312" name="Picture 6" descr="easyimage.png"/>
          <p:cNvPicPr/>
          <p:nvPr/>
        </p:nvPicPr>
        <p:blipFill>
          <a:blip r:embed="rId2"/>
          <a:stretch/>
        </p:blipFill>
        <p:spPr>
          <a:xfrm>
            <a:off x="6611760" y="1779480"/>
            <a:ext cx="3250800" cy="3250800"/>
          </a:xfrm>
          <a:prstGeom prst="rect">
            <a:avLst/>
          </a:prstGeom>
          <a:ln w="9360">
            <a:solidFill>
              <a:schemeClr val="tx1"/>
            </a:solidFill>
            <a:miter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354C22-2BFB-6063-F0C4-7FC560D62F35}"/>
              </a:ext>
            </a:extLst>
          </p:cNvPr>
          <p:cNvSpPr txBox="1"/>
          <p:nvPr/>
        </p:nvSpPr>
        <p:spPr>
          <a:xfrm>
            <a:off x="5924145" y="443714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Python++ only</a:t>
            </a:r>
          </a:p>
        </p:txBody>
      </p:sp>
    </p:spTree>
    <p:extLst>
      <p:ext uri="{BB962C8B-B14F-4D97-AF65-F5344CB8AC3E}">
        <p14:creationId xmlns:p14="http://schemas.microsoft.com/office/powerpoint/2010/main" val="1261499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engine.cc/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py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Interface tot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meerdere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genereren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Implementeer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volgende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18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generate_image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18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&amp;);</a:t>
            </a: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b="1" spc="-1" dirty="0">
              <a:solidFill>
                <a:srgbClr val="7030A0"/>
              </a:solidFill>
              <a:latin typeface="Courier New"/>
              <a:ea typeface="ＭＳ Ｐゴシック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b="1" spc="-1" dirty="0">
                <a:solidFill>
                  <a:srgbClr val="7030A0"/>
                </a:solidFill>
                <a:latin typeface="Courier New"/>
                <a:ea typeface="ＭＳ Ｐゴシック"/>
              </a:rPr>
              <a:t>d</a:t>
            </a:r>
            <a:r>
              <a:rPr lang="en-GB" sz="1800" b="1" strike="noStrike" spc="-1" dirty="0">
                <a:solidFill>
                  <a:srgbClr val="7030A0"/>
                </a:solidFill>
                <a:latin typeface="Courier New"/>
                <a:ea typeface="ＭＳ Ｐゴシック"/>
              </a:rPr>
              <a:t>ef</a:t>
            </a:r>
            <a:r>
              <a:rPr lang="en-GB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generate_image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pc="-1" dirty="0">
                <a:solidFill>
                  <a:srgbClr val="005032"/>
                </a:solidFill>
                <a:latin typeface="Courier New"/>
                <a:ea typeface="ＭＳ Ｐゴシック"/>
              </a:rPr>
              <a:t>c</a:t>
            </a:r>
            <a:r>
              <a:rPr lang="en-GB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onfiguration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</a:t>
            </a: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pc="-1" dirty="0">
                <a:solidFill>
                  <a:srgbClr val="000000"/>
                </a:solidFill>
                <a:latin typeface="FreeSans"/>
                <a:ea typeface="ＭＳ Ｐゴシック"/>
              </a:rPr>
              <a:t>(Configuration </a:t>
            </a:r>
            <a:r>
              <a:rPr lang="en-GB" spc="-1" dirty="0" err="1">
                <a:solidFill>
                  <a:srgbClr val="000000"/>
                </a:solidFill>
                <a:latin typeface="FreeSans"/>
                <a:ea typeface="ＭＳ Ｐゴシック"/>
              </a:rPr>
              <a:t>als</a:t>
            </a:r>
            <a:r>
              <a:rPr lang="en-GB" spc="-1" dirty="0">
                <a:solidFill>
                  <a:srgbClr val="000000"/>
                </a:solidFill>
                <a:latin typeface="FreeSans"/>
                <a:ea typeface="ＭＳ Ｐゴシック"/>
              </a:rPr>
              <a:t> input, </a:t>
            </a:r>
            <a:r>
              <a:rPr lang="en-GB" spc="-1" dirty="0" err="1">
                <a:solidFill>
                  <a:srgbClr val="000000"/>
                </a:solidFill>
                <a:latin typeface="FreeSans"/>
                <a:ea typeface="ＭＳ Ｐゴシック"/>
              </a:rPr>
              <a:t>EasyImage</a:t>
            </a:r>
            <a:r>
              <a:rPr lang="en-GB" spc="-1" dirty="0">
                <a:solidFill>
                  <a:srgbClr val="000000"/>
                </a:solidFill>
                <a:latin typeface="FreeSans"/>
                <a:ea typeface="ＭＳ Ｐゴシック"/>
              </a:rPr>
              <a:t> </a:t>
            </a:r>
            <a:r>
              <a:rPr lang="en-GB" spc="-1" dirty="0" err="1">
                <a:solidFill>
                  <a:srgbClr val="000000"/>
                </a:solidFill>
                <a:latin typeface="FreeSans"/>
                <a:ea typeface="ＭＳ Ｐゴシック"/>
              </a:rPr>
              <a:t>als</a:t>
            </a:r>
            <a:r>
              <a:rPr lang="en-GB" spc="-1" dirty="0">
                <a:solidFill>
                  <a:srgbClr val="000000"/>
                </a:solidFill>
                <a:latin typeface="FreeSans"/>
                <a:ea typeface="ＭＳ Ｐゴシック"/>
              </a:rPr>
              <a:t> </a:t>
            </a:r>
            <a:r>
              <a:rPr lang="en-GB" spc="-1" dirty="0" err="1">
                <a:solidFill>
                  <a:srgbClr val="000000"/>
                </a:solidFill>
                <a:latin typeface="FreeSans"/>
                <a:ea typeface="ＭＳ Ｐゴシック"/>
              </a:rPr>
              <a:t>returnwaarde</a:t>
            </a:r>
            <a:r>
              <a:rPr lang="en-GB" spc="-1" dirty="0">
                <a:solidFill>
                  <a:srgbClr val="000000"/>
                </a:solidFill>
                <a:latin typeface="FreeSans"/>
                <a:ea typeface="ＭＳ Ｐゴシック"/>
              </a:rPr>
              <a:t>)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1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6EE53DE-E788-4D31-AA62-01B02EA791F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8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DC717AE-5522-4361-A3EC-EADFF56D713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40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19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Tips (C++)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Enkele nuttige tips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Memory management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Gegevensstructuren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String manipulaties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Afronden van getallen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Development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Coding Style Guide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misverstanden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2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2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49C5C09-3CBE-4E3D-B7C2-63501C92768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41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Geheugen management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Shape 2"/>
          <p:cNvSpPr txBox="1"/>
          <p:nvPr/>
        </p:nvSpPr>
        <p:spPr>
          <a:xfrm>
            <a:off x="503280" y="1260360"/>
            <a:ext cx="9034200" cy="56876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C++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garbage collector (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zoals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Python)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Alles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wat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new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delete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Pas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memory leaks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Beperkte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hoeveelheid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Courier New"/>
                <a:ea typeface="ＭＳ Ｐゴシック"/>
              </a:rPr>
              <a:t>valgrind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memory leaks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vinden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smart pointers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Pas op met het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doorgeven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argumenten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+- 500 MB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groot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render_image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fig);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datastructuur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gekopieerd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oproepen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functie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oproep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500MB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render_image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 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&amp;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fig);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originele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datastructuur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2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2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F738256B-2E02-4E5E-80BD-896F4C3A3AA1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42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Shape 2"/>
          <p:cNvSpPr txBox="1"/>
          <p:nvPr/>
        </p:nvSpPr>
        <p:spPr>
          <a:xfrm>
            <a:off x="503280" y="1260360"/>
            <a:ext cx="9034200" cy="13759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 C++ worden er een heleboel datastructuren voorzien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het is NIET nodig om deze zélf te implementeren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3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3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657ADD-12D4-4C84-8B3A-C6E15A7B187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43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32" name="CustomShape 5"/>
          <p:cNvSpPr/>
          <p:nvPr/>
        </p:nvSpPr>
        <p:spPr>
          <a:xfrm>
            <a:off x="717840" y="2637000"/>
            <a:ext cx="5835960" cy="44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 </a:t>
            </a:r>
            <a:r>
              <a:rPr lang="nl-BE" sz="16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&lt;vector&gt;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//een vector vervangt gewone arrays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dbl_vector(10, 0.0);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0; i &lt; dbl_vector.size(); i++)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//[]-operator doet geen boundary-checks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dbl_vector[i] = 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//.at(...) doet wél boundary checks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dbl_vector.at(i) = 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//een vector kan dynamisch groeien/krimpen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dlb_vector.push_back(11.0);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Shape 2"/>
          <p:cNvSpPr txBox="1"/>
          <p:nvPr/>
        </p:nvSpPr>
        <p:spPr>
          <a:xfrm>
            <a:off x="503280" y="1260360"/>
            <a:ext cx="9034200" cy="13759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 C++ worden er een heleboel datastructuren voorzien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het is NIET nodig om deze zélf te implementeren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3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3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A662BB6-ADC6-4500-85EC-64E2641B4F21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44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37" name="CustomShape 5"/>
          <p:cNvSpPr/>
          <p:nvPr/>
        </p:nvSpPr>
        <p:spPr>
          <a:xfrm>
            <a:off x="682560" y="2637000"/>
            <a:ext cx="9397800" cy="44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 </a:t>
            </a:r>
            <a:r>
              <a:rPr lang="nl-BE" sz="16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&lt;list&gt;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//std::list voorziet een gelinkte lijst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dbl_list();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dbl_list.push_back(1.0); </a:t>
            </a:r>
            <a:br/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dbl_list.push_back(2.0);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&gt;::iterator i = dbl_list.begin();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i != dbl_list.end(); 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i++)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&amp;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d = *i;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	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Shape 2"/>
          <p:cNvSpPr txBox="1"/>
          <p:nvPr/>
        </p:nvSpPr>
        <p:spPr>
          <a:xfrm>
            <a:off x="503280" y="1260360"/>
            <a:ext cx="9034200" cy="482256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 C++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er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heleboel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datastructuren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voorzien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is NIET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285840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260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Hou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rekening</a:t>
            </a: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 met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structuurgerelateerde</a:t>
            </a: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performantie</a:t>
            </a:r>
            <a:endParaRPr lang="en-GB" sz="2400" b="1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Vector: insert/delete in het midden of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vooraan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=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traag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List: n-de element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opvragen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=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traag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  <a:hlinkClick r:id="rId2"/>
              </a:rPr>
              <a:t>https://github.com/gibsjose/cpp-cheat-sheet/blob/master/Data%20Structures%20and%20Algorithms.md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Andere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interessante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containers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map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set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Documentatie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u="sng" strike="noStrike" spc="-1" dirty="0">
                <a:solidFill>
                  <a:srgbClr val="CCCCFF"/>
                </a:solidFill>
                <a:uFillTx/>
                <a:latin typeface="FreeSans"/>
                <a:ea typeface="WenQuanYi Zen Hei"/>
                <a:hlinkClick r:id="rId3"/>
              </a:rPr>
              <a:t>http://en.cppreference.com/w/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4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7D0644A-3855-426C-8DF7-32B715B71CB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Uitvoeren van String Manipulaties (C++11)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Shape 2"/>
          <p:cNvSpPr txBox="1"/>
          <p:nvPr/>
        </p:nvSpPr>
        <p:spPr>
          <a:xfrm>
            <a:off x="503280" y="1260360"/>
            <a:ext cx="9034200" cy="4474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std::string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4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5A7F3C6F-B4AE-4066-8DFC-35BAD1299F8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46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46" name="CustomShape 5"/>
          <p:cNvSpPr/>
          <p:nvPr/>
        </p:nvSpPr>
        <p:spPr>
          <a:xfrm>
            <a:off x="461880" y="1687680"/>
            <a:ext cx="6306840" cy="584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&lt;string&gt;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//Omzetten van strings naar andere types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std::stoi(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“-24"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i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ui = std::stoul(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“123"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ui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d = std::stod(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“3.14"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d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//Types omzetten naar strings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 = std::to_string(2.78);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str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//Strings opstellen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str1 =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"Figure"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str2 = std::to_string(3);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combine = str1 + str2;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combine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400" b="0" strike="noStrike" spc="-1">
              <a:latin typeface="Arial"/>
            </a:endParaRPr>
          </a:p>
        </p:txBody>
      </p:sp>
      <p:sp>
        <p:nvSpPr>
          <p:cNvPr id="347" name="CustomShape 6"/>
          <p:cNvSpPr/>
          <p:nvPr/>
        </p:nvSpPr>
        <p:spPr>
          <a:xfrm>
            <a:off x="7326360" y="2708280"/>
            <a:ext cx="1285560" cy="1155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-24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123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3.14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2.780000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Figure3</a:t>
            </a:r>
            <a:endParaRPr lang="nl-BE" sz="1400" b="0" strike="noStrike" spc="-1">
              <a:latin typeface="Arial"/>
            </a:endParaRPr>
          </a:p>
        </p:txBody>
      </p:sp>
      <p:sp>
        <p:nvSpPr>
          <p:cNvPr id="348" name="CustomShape 7"/>
          <p:cNvSpPr/>
          <p:nvPr/>
        </p:nvSpPr>
        <p:spPr>
          <a:xfrm>
            <a:off x="7254720" y="2279520"/>
            <a:ext cx="1571400" cy="51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</a:pPr>
            <a:r>
              <a:rPr lang="nl-BE" sz="2200" b="1" strike="noStrike" spc="-1">
                <a:solidFill>
                  <a:srgbClr val="003D64"/>
                </a:solidFill>
                <a:latin typeface="FreeSans"/>
                <a:ea typeface="WenQuanYi Zen Hei"/>
              </a:rPr>
              <a:t>Output:</a:t>
            </a:r>
            <a:endParaRPr lang="nl-BE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493920" y="1065240"/>
            <a:ext cx="5088960" cy="465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&lt;cmath&gt;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(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d = 1.0; d &lt; 2.1; d += 0.1)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(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 d;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std::cout &lt;&lt;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"d: "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&lt;&lt; d </a:t>
            </a:r>
            <a:br/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&lt;&lt;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"\ti: "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&lt;&lt; i &lt;&lt; std::endl;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std::endl;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500" b="0" strike="noStrike" spc="-1">
              <a:latin typeface="Arial"/>
            </a:endParaRPr>
          </a:p>
        </p:txBody>
      </p:sp>
      <p:sp>
        <p:nvSpPr>
          <p:cNvPr id="352" name="CustomShape 4"/>
          <p:cNvSpPr/>
          <p:nvPr/>
        </p:nvSpPr>
        <p:spPr>
          <a:xfrm>
            <a:off x="1675335" y="5937178"/>
            <a:ext cx="457164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Gebruik </a:t>
            </a:r>
            <a:r>
              <a:rPr lang="nl-BE" sz="1800" b="1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altijd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 deze functie uit &lt;cmath&gt;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Om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s naar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s te converteren!</a:t>
            </a:r>
            <a:endParaRPr lang="nl-BE" sz="1800" b="0" strike="noStrike" spc="-1" dirty="0">
              <a:latin typeface="Arial"/>
            </a:endParaRPr>
          </a:p>
        </p:txBody>
      </p:sp>
      <p:sp>
        <p:nvSpPr>
          <p:cNvPr id="354" name="TextShape 6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Afronden van getallen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Shape 7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56" name="TextShape 8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322060B-8252-40A3-A1B7-B9CE595D0DB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47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493560" y="1065240"/>
            <a:ext cx="6295098" cy="4707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&lt;cmath&gt;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(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d = 1.0; d &lt; 2.1; d += 0.1)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i = (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 d;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std::cout 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"d: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d </a:t>
            </a:r>
            <a:br>
              <a:rPr dirty="0"/>
            </a:b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"\ti: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i &lt;&lt; std::endl;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std::cout &lt;&lt; std::endl;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(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d = 1.0; d &lt; 2.1; d += 0.1)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i = std::</a:t>
            </a:r>
            <a:r>
              <a:rPr lang="nl-BE" sz="1500" spc="-1" dirty="0">
                <a:solidFill>
                  <a:srgbClr val="000000"/>
                </a:solidFill>
                <a:latin typeface="Courier New"/>
                <a:ea typeface="ＭＳ Ｐゴシック"/>
              </a:rPr>
              <a:t>lround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(d);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std::cout 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"d: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d </a:t>
            </a:r>
            <a:br>
              <a:rPr dirty="0"/>
            </a:b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"\ti: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i &lt;&lt; std::endl;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500" b="0" strike="noStrike" spc="-1" dirty="0">
              <a:latin typeface="Arial"/>
            </a:endParaRPr>
          </a:p>
        </p:txBody>
      </p:sp>
      <p:sp>
        <p:nvSpPr>
          <p:cNvPr id="358" name="CustomShape 10"/>
          <p:cNvSpPr/>
          <p:nvPr/>
        </p:nvSpPr>
        <p:spPr>
          <a:xfrm>
            <a:off x="7222680" y="1494000"/>
            <a:ext cx="1507680" cy="520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 dirty="0">
              <a:latin typeface="Arial"/>
            </a:endParaRPr>
          </a:p>
        </p:txBody>
      </p:sp>
      <p:sp>
        <p:nvSpPr>
          <p:cNvPr id="359" name="CustomShape 11"/>
          <p:cNvSpPr/>
          <p:nvPr/>
        </p:nvSpPr>
        <p:spPr>
          <a:xfrm>
            <a:off x="7222680" y="1494000"/>
            <a:ext cx="1507680" cy="243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3038399" y="4286823"/>
            <a:ext cx="1901069" cy="287520"/>
          </a:xfrm>
          <a:prstGeom prst="rect">
            <a:avLst/>
          </a:prstGeom>
          <a:noFill/>
          <a:ln w="381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5"/>
          <p:cNvSpPr/>
          <p:nvPr/>
        </p:nvSpPr>
        <p:spPr>
          <a:xfrm rot="16200000" flipV="1">
            <a:off x="3100746" y="5274255"/>
            <a:ext cx="10713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1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2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Afrondingsfouten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Vermijd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typische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afrondingsfouten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variabele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nooit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reële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waarde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i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mag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bevatten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array-indices, pixel-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coördinaten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afstanden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matrix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bewerkingen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Rond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getal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pas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wanneer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Dus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Coutr"/>
                <a:ea typeface="WenQuanYi Zen Hei"/>
              </a:rPr>
              <a:t>: 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 = radius * std::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lround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(std::sin(a));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Maar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 = std::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lround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(radius * std::sin(a));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float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6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6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6F731ED-A4AD-4187-962E-62E6CEB0AA13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48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Development tips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C++ is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niet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meest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eenvoudige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taal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tools die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beschikbaar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Debugger: 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gdb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/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CLion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debugger / Visual Studio /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Memory management: 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valgrind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onderstaande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compile-flags (clang, g++)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–Wall –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Wextra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alle compiler-warnings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fstack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-protector-all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beschermt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bepaalde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‘out-of-bounds’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fouten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 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–g3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compileer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debug-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informatie</a:t>
            </a:r>
            <a:b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</a:b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914760" lvl="2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</a:pPr>
            <a:r>
              <a:rPr lang="en-GB" sz="2000" spc="-1" dirty="0">
                <a:solidFill>
                  <a:srgbClr val="003D64"/>
                </a:solidFill>
                <a:latin typeface="FreeSans"/>
              </a:rPr>
              <a:t>(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Omdat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de flags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elke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compiler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ondersteund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zijn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,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worden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standard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gebruikt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in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onze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CMakeLists.txt.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Wel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staat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aangegeven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waar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kunt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toevoegen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.)</a:t>
            </a:r>
          </a:p>
        </p:txBody>
      </p:sp>
      <p:sp>
        <p:nvSpPr>
          <p:cNvPr id="36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6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BF6EEFF-F034-4895-A964-9D778655F1E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Coding Style Guide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Werk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objectgeoriënteerd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Probeer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zoveel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mogelijk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correcte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classes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implementeren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class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zijn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eigen .h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.cc file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class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2 files: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.h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.cc (of .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cpp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 file 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deze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files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dezelfde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naam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class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457200">
              <a:lnSpc>
                <a:spcPct val="81000"/>
              </a:lnSpc>
              <a:spcAft>
                <a:spcPts val="1137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Lees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  <a:hlinkClick r:id="rId2"/>
              </a:rPr>
              <a:t>https://google.github.io/styleguide/cppguide.html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evaluatie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rekening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gehouden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codekwaliteit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.</a:t>
            </a: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moeilijk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leesbare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code is het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wel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mogelijk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we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hulp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kunnen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bieden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problemen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.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2200" spc="-1" dirty="0">
              <a:solidFill>
                <a:srgbClr val="003D64"/>
              </a:solidFill>
              <a:latin typeface="FreeSans"/>
              <a:ea typeface="ＭＳ Ｐゴシック"/>
            </a:endParaRPr>
          </a:p>
        </p:txBody>
      </p:sp>
      <p:sp>
        <p:nvSpPr>
          <p:cNvPr id="37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078B3F8-B4A5-4F56-9796-8B0A9372A1F0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50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misverstanden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Zorg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correcte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omzetting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tussen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radialen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sin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cos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radialen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graden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opgegeven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Zorg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kleuren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correct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geschaald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RGB-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kleurcomponenten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tussen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0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255 (incl.)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de INI-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 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reële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kleurcomponenten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tussen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0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1 (incl.)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individueel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kunnen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getest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Vb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Na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zuivere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Z-buffering (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Tip: test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elke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keer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nieuwe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opgave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af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is of alle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voorgaande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nog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correct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werken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. Als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oude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functionaliteit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je finale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inzending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meer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werkt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,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kunnen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we er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ook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punten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geven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.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C73E741-224F-4D02-A6FC-57FB29F25F4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51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Hulp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nodig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?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Stuur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mailtje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naar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beide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assistenten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Beschrijf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bondig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m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aar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duidelijk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wat er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fout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gaat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Besch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rijf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bondig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hoe je het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probleem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al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hebt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proberen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lossen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codegerelateerde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problemen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stuur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</a:rPr>
              <a:t>volledige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engine 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bijlage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800280" lvl="1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In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.tar.gz net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zoals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inzendingen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proefevaluatie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280" lvl="1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Vermeld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waar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relevant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regelnummers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van code</a:t>
            </a:r>
          </a:p>
          <a:p>
            <a:pPr marL="343080" indent="-342720"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Voorzie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één of meerdere ini-files waarbij het probleem zich voordoet (zelfs al komen ze van BlackBoard)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C73E741-224F-4D02-A6FC-57FB29F25F4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52</a:t>
            </a:fld>
            <a:endParaRPr lang="nl-BE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5467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Vragen?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Shape 2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8" name="TextShape 3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FF7D417-8802-4669-BC7B-EE2517D258D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</TotalTime>
  <Words>5161</Words>
  <Application>Microsoft Office PowerPoint</Application>
  <PresentationFormat>Aangepast</PresentationFormat>
  <Paragraphs>916</Paragraphs>
  <Slides>53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4</vt:i4>
      </vt:variant>
      <vt:variant>
        <vt:lpstr>Diatitels</vt:lpstr>
      </vt:variant>
      <vt:variant>
        <vt:i4>53</vt:i4>
      </vt:variant>
    </vt:vector>
  </HeadingPairs>
  <TitlesOfParts>
    <vt:vector size="66" baseType="lpstr">
      <vt:lpstr>Arial</vt:lpstr>
      <vt:lpstr>Consolas</vt:lpstr>
      <vt:lpstr>Courier New</vt:lpstr>
      <vt:lpstr>Coutr</vt:lpstr>
      <vt:lpstr>FreeSans</vt:lpstr>
      <vt:lpstr>Symbol</vt:lpstr>
      <vt:lpstr>Times New Roman</vt:lpstr>
      <vt:lpstr>Verdana</vt:lpstr>
      <vt:lpstr>Wingdings</vt:lpstr>
      <vt:lpstr>Office Theme</vt:lpstr>
      <vt:lpstr>Office Theme</vt:lpstr>
      <vt:lpstr>Office Theme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subject/>
  <dc:creator/>
  <dc:description/>
  <cp:lastModifiedBy>Jakob Struye</cp:lastModifiedBy>
  <cp:revision>109</cp:revision>
  <cp:lastPrinted>1601-01-01T00:00:00Z</cp:lastPrinted>
  <dcterms:created xsi:type="dcterms:W3CDTF">2011-10-06T12:04:05Z</dcterms:created>
  <dcterms:modified xsi:type="dcterms:W3CDTF">2025-02-10T13:11:07Z</dcterms:modified>
  <dc:language>nl-BE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2</vt:i4>
  </property>
  <property fmtid="{D5CDD505-2E9C-101B-9397-08002B2CF9AE}" pid="7" name="PresentationFormat">
    <vt:lpwstr>Aangepast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44</vt:i4>
  </property>
</Properties>
</file>